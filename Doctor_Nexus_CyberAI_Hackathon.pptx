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2" roundtripDataSignature="AMtx7mip3UEDifjsjxNIaJnsBL1Bz8vi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2B9882-6660-486C-9397-FC278D5751BE}">
  <a:tblStyle styleId="{032B9882-6660-486C-9397-FC278D5751BE}"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092E7440-6865-424C-AC0A-1A65F648D056}"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1F1F"/>
                </a:solidFill>
                <a:latin typeface="Arial"/>
              </a:rPr>
              <a:t>46 units used but never billed</a:t>
            </a:r>
          </a:p>
        </c:rich>
      </c:tx>
      <c:layout/>
      <c:overlay val="0"/>
    </c:title>
    <c:autoTitleDeleted val="0"/>
    <c:plotArea>
      <c:barChart>
        <c:barDir val="bar"/>
        <c:grouping val="clustered"/>
        <c:ser>
          <c:idx val="0"/>
          <c:order val="0"/>
          <c:tx>
            <c:strRef>
              <c:f>Sheet1!$B$1</c:f>
              <c:strCache>
                <c:ptCount val="1"/>
                <c:pt idx="0">
                  <c:v>Units</c:v>
                </c:pt>
              </c:strCache>
            </c:strRef>
          </c:tx>
          <c:dPt>
            <c:idx val="0"/>
            <c:spPr>
              <a:solidFill>
                <a:srgbClr val="36454F"/>
              </a:solidFill>
            </c:spPr>
          </c:dPt>
          <c:dPt>
            <c:idx val="1"/>
            <c:spPr>
              <a:solidFill>
                <a:srgbClr val="C00000"/>
              </a:solidFill>
            </c:spPr>
          </c:dPt>
          <c:cat>
            <c:strRef>
              <c:f>Sheet1!$A$2:$A$3</c:f>
              <c:strCache>
                <c:ptCount val="2"/>
                <c:pt idx="0">
                  <c:v>Units used in theatre</c:v>
                </c:pt>
                <c:pt idx="1">
                  <c:v>Units on the bills</c:v>
                </c:pt>
              </c:strCache>
            </c:strRef>
          </c:cat>
          <c:val>
            <c:numRef>
              <c:f>Sheet1!$B$2:$B$3</c:f>
              <c:numCache>
                <c:formatCode>General</c:formatCode>
                <c:ptCount val="2"/>
                <c:pt idx="0">
                  <c:v>77</c:v>
                </c:pt>
                <c:pt idx="1">
                  <c:v>31</c:v>
                </c:pt>
              </c:numCache>
            </c:numRef>
          </c:val>
        </c:ser>
        <c:dLbls>
          <c:txPr>
            <a:bodyPr/>
            <a:lstStyle/>
            <a:p>
              <a:pPr>
                <a:defRPr sz="14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3D3D3"/>
            </a:solidFill>
          </a:ln>
        </c:spPr>
        <c:crossAx val="-2113994440"/>
        <c:crosses val="autoZero"/>
        <c:auto val="1"/>
        <c:lblAlgn val="ctr"/>
        <c:lblOffset val="100"/>
        <c:noMultiLvlLbl val="0"/>
      </c:catAx>
      <c:valAx>
        <c:axId val="-2113994440"/>
        <c:scaling>
          <c:max val="90.0"/>
        </c:scaling>
        <c:delete/>
        <c:axPos val="b"/>
        <c:majorTickMark val="out"/>
        <c:minorTickMark val="none"/>
        <c:tickLblPos val="nextTo"/>
        <c:crossAx val="-2068027336"/>
        <c:crosses val="autoZero"/>
      </c:valAx>
    </c:plotArea>
    <c:dispBlanksAs val="gap"/>
  </c:chart>
  <c:txPr>
    <a:bodyPr/>
    <a:lstStyle/>
    <a:p>
      <a:pPr>
        <a:defRPr sz="1200">
          <a:solidFill>
            <a:srgbClr val="36454F"/>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400" b="1">
                <a:solidFill>
                  <a:srgbClr val="1F1F1F"/>
                </a:solidFill>
                <a:latin typeface="Arial"/>
              </a:rPr>
              <a:t>39 gaps, by type</a:t>
            </a:r>
          </a:p>
        </c:rich>
      </c:tx>
      <c:layout/>
      <c:overlay val="0"/>
    </c:title>
    <c:autoTitleDeleted val="0"/>
    <c:plotArea>
      <c:layout/>
      <c:doughnutChart>
        <c:varyColors val="1"/>
        <c:ser>
          <c:idx val="0"/>
          <c:order val="0"/>
          <c:tx>
            <c:strRef>
              <c:f>Sheet1!$B$1</c:f>
              <c:strCache>
                <c:ptCount val="1"/>
                <c:pt idx="0">
                  <c:v>Gaps</c:v>
                </c:pt>
              </c:strCache>
            </c:strRef>
          </c:tx>
          <c:dPt>
            <c:idx val="0"/>
            <c:spPr>
              <a:solidFill>
                <a:srgbClr val="C00000"/>
              </a:solidFill>
            </c:spPr>
          </c:dPt>
          <c:dPt>
            <c:idx val="1"/>
            <c:spPr>
              <a:solidFill>
                <a:srgbClr val="708090"/>
              </a:solidFill>
            </c:spPr>
          </c:dPt>
          <c:cat>
            <c:strRef>
              <c:f>Sheet1!$A$2:$A$3</c:f>
              <c:strCache>
                <c:ptCount val="2"/>
                <c:pt idx="0">
                  <c:v>Not billed at all</c:v>
                </c:pt>
                <c:pt idx="1">
                  <c:v>Billed short</c:v>
                </c:pt>
              </c:strCache>
            </c:strRef>
          </c:cat>
          <c:val>
            <c:numRef>
              <c:f>Sheet1!$B$2:$B$3</c:f>
              <c:numCache>
                <c:formatCode>General</c:formatCode>
                <c:ptCount val="2"/>
                <c:pt idx="0">
                  <c:v>24</c:v>
                </c:pt>
                <c:pt idx="1">
                  <c:v>15</c:v>
                </c:pt>
              </c:numCache>
            </c:numRef>
          </c:val>
        </c:ser>
        <c:dLbls>
          <c:txPr>
            <a:bodyPr/>
            <a:lstStyle/>
            <a:p>
              <a:pPr>
                <a:defRPr sz="14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200"/>
          </a:pPr>
        </a:p>
      </c:txPr>
    </c:legend>
    <c:plotVisOnly val="1"/>
    <c:dispBlanksAs val="gap"/>
    <c:showDLblsOverMax val="0"/>
  </c:chart>
  <c:txPr>
    <a:bodyPr/>
    <a:lstStyle/>
    <a:p>
      <a:pPr>
        <a:defRPr sz="1200">
          <a:solidFill>
            <a:srgbClr val="36454F"/>
          </a:solidFill>
          <a:latin typeface="Arial"/>
        </a:defRPr>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Introduce the team and the one-line idea: Doctor Nexus reads surgery notes and the bill, and tells the hospital what was used but never charged.</a:t>
            </a:r>
          </a:p>
        </p:txBody>
      </p:sp>
      <p:sp>
        <p:nvSpPr>
          <p:cNvPr id="102" name="Google Shape;10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Implants and devices are the most expensive things in an operation, and they are exactly what gets missed. The numbers on the right are from HFMA (see references). The project README also quotes 15-20% for Indian hospitals, but we could not find a source for that, so we left it out.</a:t>
            </a:r>
          </a:p>
        </p:txBody>
      </p:sp>
      <p:sp>
        <p:nvSpPr>
          <p:cNvPr id="112" name="Google Shape;11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Walk through P-002 slowly. This one example makes the whole problem obvious.</a:t>
            </a:r>
          </a:p>
        </p:txBody>
      </p:sp>
      <p:sp>
        <p:nvSpPr>
          <p:cNvPr id="120" name="Google Shape;12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Four objectives. The last one matters a lot for hospitals, because patient data is sensitive.</a:t>
            </a:r>
          </a:p>
        </p:txBody>
      </p:sp>
      <p:sp>
        <p:nvSpPr>
          <p:cNvPr id="128" name="Google Shape;1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Read, match, flag, report. Keep it that simple when presenting.</a:t>
            </a: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'implied items' row comes from the project's audit flow document (docs/audi_flow.md).</a:t>
            </a:r>
          </a:p>
        </p:txBody>
      </p:sp>
      <p:sp>
        <p:nvSpPr>
          <p:cNvPr id="144" name="Google Shape;1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Raw files stay inside the dashed box. Only the text needed for reasoning goes out to Gemini over an encrypted API call. Full architecture diagram is in docs/HLD.jpg in the repo.</a:t>
            </a:r>
          </a:p>
        </p:txBody>
      </p:sp>
      <p:sp>
        <p:nvSpPr>
          <p:cNvPr id="151" name="Google Shape;151;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Prototype cost is genuinely zero. Don't promise pilot numbers we haven't priced.</a:t>
            </a:r>
          </a:p>
        </p:txBody>
      </p:sp>
      <p:sp>
        <p:nvSpPr>
          <p:cNvPr id="158" name="Google Shape;15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Numbers come from running local_run/run_audit.py on workspace/hospital_logs.json. Rupee values need a hospital price list, which the repo doesn't include.</a:t>
            </a:r>
          </a:p>
        </p:txBody>
      </p:sp>
      <p:sp>
        <p:nvSpPr>
          <p:cNvPr id="166" name="Google Shape;166;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Fill in member names and tick the roles each person actually did.</a:t>
            </a:r>
          </a:p>
        </p:txBody>
      </p:sp>
      <p:sp>
        <p:nvSpPr>
          <p:cNvPr id="173" name="Google Shape;173;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These screenshots are from the project author's own run. The patient IDs shown (P-102, P-123...) come from an earlier dataset, not the 25 records now in the repo.</a:t>
            </a:r>
          </a:p>
        </p:txBody>
      </p:sp>
      <p:sp>
        <p:nvSpPr>
          <p:cNvPr id="180" name="Google Shape;18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Command: python run_audit.py (see walkthrough.md). Add --llm to use Gemini instead.</a:t>
            </a:r>
          </a:p>
        </p:txBody>
      </p:sp>
      <p:sp>
        <p:nvSpPr>
          <p:cNvPr id="187" name="Google Shape;187;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Full links are in explanation.md.</a:t>
            </a:r>
          </a:p>
        </p:txBody>
      </p:sp>
      <p:sp>
        <p:nvSpPr>
          <p:cNvPr id="194" name="Google Shape;194;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17"/>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7"/>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7"/>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262626"/>
              </a:buClr>
              <a:buSzPts val="8000"/>
              <a:buFont typeface="Calibri"/>
              <a:buNone/>
              <a:defRPr b="1" i="0" sz="8000" u="none" cap="none" strike="noStrike">
                <a:solidFill>
                  <a:srgbClr val="262626"/>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 name="Google Shape;22;p17"/>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6" name="Shape 26"/>
        <p:cNvGrpSpPr/>
        <p:nvPr/>
      </p:nvGrpSpPr>
      <p:grpSpPr>
        <a:xfrm>
          <a:off x="0" y="0"/>
          <a:ext cx="0" cy="0"/>
          <a:chOff x="0" y="0"/>
          <a:chExt cx="0" cy="0"/>
        </a:xfrm>
      </p:grpSpPr>
      <p:sp>
        <p:nvSpPr>
          <p:cNvPr id="27" name="Google Shape;27;p18"/>
          <p:cNvSpPr txBox="1"/>
          <p:nvPr>
            <p:ph idx="1" type="body"/>
          </p:nvPr>
        </p:nvSpPr>
        <p:spPr>
          <a:xfrm>
            <a:off x="822959" y="992498"/>
            <a:ext cx="7543801" cy="4876596"/>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8" name="Google Shape;28;p1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1" i="0" sz="180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1" i="0" sz="180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1" i="0" sz="180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1" i="0" sz="180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1" i="0" sz="180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1" i="0" sz="180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1" i="0" sz="180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1" i="0" sz="180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1" i="0" sz="18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1" name="Shape 31"/>
        <p:cNvGrpSpPr/>
        <p:nvPr/>
      </p:nvGrpSpPr>
      <p:grpSpPr>
        <a:xfrm>
          <a:off x="0" y="0"/>
          <a:ext cx="0" cy="0"/>
          <a:chOff x="0" y="0"/>
          <a:chExt cx="0" cy="0"/>
        </a:xfrm>
      </p:grpSpPr>
      <p:sp>
        <p:nvSpPr>
          <p:cNvPr id="32" name="Google Shape;32;p19"/>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9"/>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9"/>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262626"/>
              </a:buClr>
              <a:buSzPts val="8000"/>
              <a:buFont typeface="Calibri"/>
              <a:buNone/>
              <a:defRPr b="0" i="0" sz="8000" u="none" cap="none" strike="noStrike">
                <a:solidFill>
                  <a:srgbClr val="262626"/>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19"/>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6" name="Google Shape;36;p1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39" name="Google Shape;39;p19"/>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0" name="Shape 40"/>
        <p:cNvGrpSpPr/>
        <p:nvPr/>
      </p:nvGrpSpPr>
      <p:grpSpPr>
        <a:xfrm>
          <a:off x="0" y="0"/>
          <a:ext cx="0" cy="0"/>
          <a:chOff x="0" y="0"/>
          <a:chExt cx="0" cy="0"/>
        </a:xfrm>
      </p:grpSpPr>
      <p:sp>
        <p:nvSpPr>
          <p:cNvPr id="41" name="Google Shape;41;p20"/>
          <p:cNvSpPr txBox="1"/>
          <p:nvPr>
            <p:ph idx="1" type="body"/>
          </p:nvPr>
        </p:nvSpPr>
        <p:spPr>
          <a:xfrm>
            <a:off x="822960" y="1845734"/>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2" name="Google Shape;42;p20"/>
          <p:cNvSpPr txBox="1"/>
          <p:nvPr>
            <p:ph idx="2" type="body"/>
          </p:nvPr>
        </p:nvSpPr>
        <p:spPr>
          <a:xfrm>
            <a:off x="4663440" y="1845736"/>
            <a:ext cx="370332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3" name="Google Shape;43;p2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6" name="Shape 46"/>
        <p:cNvGrpSpPr/>
        <p:nvPr/>
      </p:nvGrpSpPr>
      <p:grpSpPr>
        <a:xfrm>
          <a:off x="0" y="0"/>
          <a:ext cx="0" cy="0"/>
          <a:chOff x="0" y="0"/>
          <a:chExt cx="0" cy="0"/>
        </a:xfrm>
      </p:grpSpPr>
      <p:sp>
        <p:nvSpPr>
          <p:cNvPr id="47" name="Google Shape;47;p21"/>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21"/>
          <p:cNvSpPr txBox="1"/>
          <p:nvPr>
            <p:ph idx="2" type="body"/>
          </p:nvPr>
        </p:nvSpPr>
        <p:spPr>
          <a:xfrm>
            <a:off x="82296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21"/>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0" name="Google Shape;50;p21"/>
          <p:cNvSpPr txBox="1"/>
          <p:nvPr>
            <p:ph idx="4" type="body"/>
          </p:nvPr>
        </p:nvSpPr>
        <p:spPr>
          <a:xfrm>
            <a:off x="466344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2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4" name="Shape 54"/>
        <p:cNvGrpSpPr/>
        <p:nvPr/>
      </p:nvGrpSpPr>
      <p:grpSpPr>
        <a:xfrm>
          <a:off x="0" y="0"/>
          <a:ext cx="0" cy="0"/>
          <a:chOff x="0" y="0"/>
          <a:chExt cx="0" cy="0"/>
        </a:xfrm>
      </p:grpSpPr>
      <p:sp>
        <p:nvSpPr>
          <p:cNvPr id="55" name="Google Shape;55;p2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8" name="Shape 58"/>
        <p:cNvGrpSpPr/>
        <p:nvPr/>
      </p:nvGrpSpPr>
      <p:grpSpPr>
        <a:xfrm>
          <a:off x="0" y="0"/>
          <a:ext cx="0" cy="0"/>
          <a:chOff x="0" y="0"/>
          <a:chExt cx="0" cy="0"/>
        </a:xfrm>
      </p:grpSpPr>
      <p:sp>
        <p:nvSpPr>
          <p:cNvPr id="59" name="Google Shape;59;p23"/>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3"/>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4" name="Shape 64"/>
        <p:cNvGrpSpPr/>
        <p:nvPr/>
      </p:nvGrpSpPr>
      <p:grpSpPr>
        <a:xfrm>
          <a:off x="0" y="0"/>
          <a:ext cx="0" cy="0"/>
          <a:chOff x="0" y="0"/>
          <a:chExt cx="0" cy="0"/>
        </a:xfrm>
      </p:grpSpPr>
      <p:sp>
        <p:nvSpPr>
          <p:cNvPr id="65" name="Google Shape;65;p24"/>
          <p:cNvSpPr/>
          <p:nvPr/>
        </p:nvSpPr>
        <p:spPr>
          <a:xfrm>
            <a:off x="13" y="0"/>
            <a:ext cx="3038093"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4"/>
          <p:cNvSpPr/>
          <p:nvPr/>
        </p:nvSpPr>
        <p:spPr>
          <a:xfrm>
            <a:off x="3030053" y="0"/>
            <a:ext cx="48006"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4"/>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FFFFFF"/>
              </a:buClr>
              <a:buSzPts val="3600"/>
              <a:buFont typeface="Calibri"/>
              <a:buNone/>
              <a:defRPr b="0" i="0" sz="36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p24"/>
          <p:cNvSpPr txBox="1"/>
          <p:nvPr>
            <p:ph idx="1" type="body"/>
          </p:nvPr>
        </p:nvSpPr>
        <p:spPr>
          <a:xfrm>
            <a:off x="3460237" y="731520"/>
            <a:ext cx="5009393"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24"/>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0" name="Google Shape;70;p24"/>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3" name="Shape 73"/>
        <p:cNvGrpSpPr/>
        <p:nvPr/>
      </p:nvGrpSpPr>
      <p:grpSpPr>
        <a:xfrm>
          <a:off x="0" y="0"/>
          <a:ext cx="0" cy="0"/>
          <a:chOff x="0" y="0"/>
          <a:chExt cx="0" cy="0"/>
        </a:xfrm>
      </p:grpSpPr>
      <p:sp>
        <p:nvSpPr>
          <p:cNvPr id="74" name="Google Shape;74;p25"/>
          <p:cNvSpPr/>
          <p:nvPr/>
        </p:nvSpPr>
        <p:spPr>
          <a:xfrm>
            <a:off x="0" y="4953000"/>
            <a:ext cx="9141619"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5"/>
          <p:cNvSpPr/>
          <p:nvPr/>
        </p:nvSpPr>
        <p:spPr>
          <a:xfrm>
            <a:off x="12" y="491507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5"/>
          <p:cNvSpPr txBox="1"/>
          <p:nvPr>
            <p:ph type="title"/>
          </p:nvPr>
        </p:nvSpPr>
        <p:spPr>
          <a:xfrm>
            <a:off x="822960" y="5074920"/>
            <a:ext cx="7589520" cy="822960"/>
          </a:xfrm>
          <a:prstGeom prst="rect">
            <a:avLst/>
          </a:prstGeom>
          <a:noFill/>
          <a:ln>
            <a:noFill/>
          </a:ln>
        </p:spPr>
        <p:txBody>
          <a:bodyPr anchorCtr="0" anchor="b" bIns="0" lIns="91425" spcFirstLastPara="1" rIns="91425" wrap="square" tIns="0">
            <a:noAutofit/>
          </a:bodyPr>
          <a:lstStyle>
            <a:lvl1pPr lvl="0" marR="0" rtl="0" algn="l">
              <a:lnSpc>
                <a:spcPct val="85000"/>
              </a:lnSpc>
              <a:spcBef>
                <a:spcPts val="0"/>
              </a:spcBef>
              <a:spcAft>
                <a:spcPts val="0"/>
              </a:spcAft>
              <a:buClr>
                <a:srgbClr val="FFFFFF"/>
              </a:buClr>
              <a:buSzPts val="3600"/>
              <a:buFont typeface="Calibri"/>
              <a:buNone/>
              <a:defRPr b="0" i="0" sz="36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7" name="Google Shape;77;p25"/>
          <p:cNvSpPr/>
          <p:nvPr>
            <p:ph idx="2" type="pic"/>
          </p:nvPr>
        </p:nvSpPr>
        <p:spPr>
          <a:xfrm>
            <a:off x="12" y="0"/>
            <a:ext cx="9143989" cy="4915076"/>
          </a:xfrm>
          <a:prstGeom prst="rect">
            <a:avLst/>
          </a:prstGeom>
          <a:noFill/>
          <a:ln>
            <a:noFill/>
          </a:ln>
        </p:spPr>
      </p:sp>
      <p:sp>
        <p:nvSpPr>
          <p:cNvPr id="78" name="Google Shape;78;p25"/>
          <p:cNvSpPr txBox="1"/>
          <p:nvPr>
            <p:ph idx="1" type="body"/>
          </p:nvPr>
        </p:nvSpPr>
        <p:spPr>
          <a:xfrm>
            <a:off x="822959"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9" name="Google Shape;79;p2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82" name="Shape 82"/>
        <p:cNvGrpSpPr/>
        <p:nvPr/>
      </p:nvGrpSpPr>
      <p:grpSpPr>
        <a:xfrm>
          <a:off x="0" y="0"/>
          <a:ext cx="0" cy="0"/>
          <a:chOff x="0" y="0"/>
          <a:chExt cx="0" cy="0"/>
        </a:xfrm>
      </p:grpSpPr>
      <p:sp>
        <p:nvSpPr>
          <p:cNvPr id="83" name="Google Shape;83;p26"/>
          <p:cNvSpPr txBox="1"/>
          <p:nvPr>
            <p:ph idx="1" type="body"/>
          </p:nvPr>
        </p:nvSpPr>
        <p:spPr>
          <a:xfrm rot="5400000">
            <a:off x="2156561" y="-341104"/>
            <a:ext cx="4876596"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2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7" name="Shape 87"/>
        <p:cNvGrpSpPr/>
        <p:nvPr/>
      </p:nvGrpSpPr>
      <p:grpSpPr>
        <a:xfrm>
          <a:off x="0" y="0"/>
          <a:ext cx="0" cy="0"/>
          <a:chOff x="0" y="0"/>
          <a:chExt cx="0" cy="0"/>
        </a:xfrm>
      </p:grpSpPr>
      <p:sp>
        <p:nvSpPr>
          <p:cNvPr id="88" name="Google Shape;88;p27"/>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7"/>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7"/>
          <p:cNvSpPr txBox="1"/>
          <p:nvPr>
            <p:ph type="title"/>
          </p:nvPr>
        </p:nvSpPr>
        <p:spPr>
          <a:xfrm rot="5400000">
            <a:off x="4650802" y="2307652"/>
            <a:ext cx="5757421" cy="1971675"/>
          </a:xfrm>
          <a:prstGeom prst="rect">
            <a:avLst/>
          </a:prstGeom>
          <a:noFill/>
          <a:ln>
            <a:noFill/>
          </a:ln>
        </p:spPr>
        <p:txBody>
          <a:bodyPr anchorCtr="0" anchor="t" bIns="45700" lIns="91425" spcFirstLastPara="1" rIns="91425" wrap="square" tIns="45700">
            <a:noAutofit/>
          </a:bodyPr>
          <a:lstStyle>
            <a:lvl1pPr lvl="0" marR="0" rtl="0" algn="l">
              <a:lnSpc>
                <a:spcPct val="85000"/>
              </a:lnSpc>
              <a:spcBef>
                <a:spcPts val="0"/>
              </a:spcBef>
              <a:spcAft>
                <a:spcPts val="0"/>
              </a:spcAft>
              <a:buClr>
                <a:schemeClr val="dk1"/>
              </a:buClr>
              <a:buSzPts val="2400"/>
              <a:buFont typeface="Calibri"/>
              <a:buNone/>
              <a:defRPr b="1" i="0"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1" name="Google Shape;91;p27"/>
          <p:cNvSpPr txBox="1"/>
          <p:nvPr>
            <p:ph idx="1" type="body"/>
          </p:nvPr>
        </p:nvSpPr>
        <p:spPr>
          <a:xfrm rot="5400000">
            <a:off x="650303" y="393126"/>
            <a:ext cx="5757420"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2" name="Google Shape;92;p2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p:nvPr/>
        </p:nvSpPr>
        <p:spPr>
          <a:xfrm>
            <a:off x="0" y="6400800"/>
            <a:ext cx="9144001"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6"/>
          <p:cNvSpPr/>
          <p:nvPr/>
        </p:nvSpPr>
        <p:spPr>
          <a:xfrm>
            <a:off x="0" y="6334315"/>
            <a:ext cx="9144001" cy="65999"/>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6"/>
          <p:cNvSpPr txBox="1"/>
          <p:nvPr>
            <p:ph idx="1" type="body"/>
          </p:nvPr>
        </p:nvSpPr>
        <p:spPr>
          <a:xfrm>
            <a:off x="822959" y="992498"/>
            <a:ext cx="7543801" cy="4876596"/>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3" name="Google Shape;13;p1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1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6" name="Google Shape;16;p16"/>
          <p:cNvCxnSpPr/>
          <p:nvPr/>
        </p:nvCxnSpPr>
        <p:spPr>
          <a:xfrm>
            <a:off x="0" y="905933"/>
            <a:ext cx="9144001" cy="27578"/>
          </a:xfrm>
          <a:prstGeom prst="straightConnector1">
            <a:avLst/>
          </a:prstGeom>
          <a:noFill/>
          <a:ln cap="flat" cmpd="sng" w="28575">
            <a:solidFill>
              <a:schemeClr val="dk1"/>
            </a:solidFill>
            <a:prstDash val="solid"/>
            <a:round/>
            <a:headEnd len="sm" w="sm" type="none"/>
            <a:tailEnd len="sm" w="sm" type="none"/>
          </a:ln>
        </p:spPr>
      </p:cxnSp>
      <p:sp>
        <p:nvSpPr>
          <p:cNvPr id="17" name="Google Shape;17;p16"/>
          <p:cNvSpPr/>
          <p:nvPr/>
        </p:nvSpPr>
        <p:spPr>
          <a:xfrm>
            <a:off x="1" y="0"/>
            <a:ext cx="9144000" cy="896471"/>
          </a:xfrm>
          <a:prstGeom prst="rect">
            <a:avLst/>
          </a:prstGeom>
          <a:solidFill>
            <a:srgbClr val="C00000"/>
          </a:solidFill>
          <a:ln cap="flat" cmpd="sng" w="15875">
            <a:solidFill>
              <a:srgbClr val="60370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ctrTitle"/>
          </p:nvPr>
        </p:nvSpPr>
        <p:spPr>
          <a:xfrm>
            <a:off x="972450" y="111150"/>
            <a:ext cx="7199100" cy="800700"/>
          </a:xfrm>
          <a:prstGeom prst="rect">
            <a:avLst/>
          </a:prstGeom>
          <a:noFill/>
          <a:ln>
            <a:noFill/>
          </a:ln>
        </p:spPr>
        <p:txBody>
          <a:bodyPr anchorCtr="0" anchor="b" bIns="45700" lIns="91425" spcFirstLastPara="1" rIns="91425" wrap="square" tIns="45700">
            <a:noAutofit/>
          </a:bodyPr>
          <a:lstStyle/>
          <a:p>
            <a:pPr indent="0" lvl="0" marL="0" rtl="0" algn="ctr">
              <a:lnSpc>
                <a:spcPct val="140000"/>
              </a:lnSpc>
              <a:spcBef>
                <a:spcPts val="0"/>
              </a:spcBef>
              <a:spcAft>
                <a:spcPts val="0"/>
              </a:spcAft>
              <a:buClr>
                <a:schemeClr val="dk1"/>
              </a:buClr>
              <a:buSzPts val="1100"/>
              <a:buFont typeface="Arial"/>
              <a:buNone/>
            </a:pPr>
            <a:r>
              <a:rPr lang="en-US" sz="2100">
                <a:solidFill>
                  <a:schemeClr val="dk1"/>
                </a:solidFill>
                <a:latin typeface="Arial"/>
                <a:ea typeface="Arial"/>
                <a:cs typeface="Arial"/>
                <a:sym typeface="Arial"/>
              </a:rPr>
              <a:t>Cyber AI Hackathon 2026</a:t>
            </a:r>
            <a:endParaRPr sz="2100">
              <a:solidFill>
                <a:schemeClr val="dk1"/>
              </a:solidFill>
              <a:latin typeface="Arial"/>
              <a:ea typeface="Arial"/>
              <a:cs typeface="Arial"/>
              <a:sym typeface="Arial"/>
            </a:endParaRPr>
          </a:p>
          <a:p>
            <a:pPr indent="0" lvl="0" marL="0" rtl="0" algn="ctr">
              <a:lnSpc>
                <a:spcPct val="140000"/>
              </a:lnSpc>
              <a:spcBef>
                <a:spcPts val="0"/>
              </a:spcBef>
              <a:spcAft>
                <a:spcPts val="0"/>
              </a:spcAft>
              <a:buClr>
                <a:schemeClr val="dk1"/>
              </a:buClr>
              <a:buSzPts val="1100"/>
              <a:buFont typeface="Arial"/>
              <a:buNone/>
            </a:pPr>
            <a:r>
              <a:rPr b="0" lang="en-US" sz="2100">
                <a:solidFill>
                  <a:schemeClr val="dk1"/>
                </a:solidFill>
                <a:latin typeface="Arial"/>
                <a:ea typeface="Arial"/>
                <a:cs typeface="Arial"/>
                <a:sym typeface="Arial"/>
              </a:rPr>
              <a:t>Organized by University of Derby</a:t>
            </a:r>
            <a:endParaRPr sz="2800">
              <a:solidFill>
                <a:schemeClr val="dk1"/>
              </a:solidFill>
              <a:latin typeface="Times New Roman"/>
              <a:ea typeface="Times New Roman"/>
              <a:cs typeface="Times New Roman"/>
              <a:sym typeface="Times New Roman"/>
            </a:endParaRPr>
          </a:p>
        </p:txBody>
      </p:sp>
      <p:cxnSp>
        <p:nvCxnSpPr>
          <p:cNvPr id="105" name="Google Shape;105;p2"/>
          <p:cNvCxnSpPr/>
          <p:nvPr/>
        </p:nvCxnSpPr>
        <p:spPr>
          <a:xfrm>
            <a:off x="0" y="1005840"/>
            <a:ext cx="9144000" cy="0"/>
          </a:xfrm>
          <a:prstGeom prst="straightConnector1">
            <a:avLst/>
          </a:prstGeom>
          <a:noFill/>
          <a:ln cap="flat" cmpd="sng" w="12700">
            <a:solidFill>
              <a:schemeClr val="dk1"/>
            </a:solidFill>
            <a:prstDash val="solid"/>
            <a:round/>
            <a:headEnd len="sm" w="sm" type="none"/>
            <a:tailEnd len="sm" w="sm" type="none"/>
          </a:ln>
        </p:spPr>
      </p:cxnSp>
      <p:graphicFrame>
        <p:nvGraphicFramePr>
          <p:cNvPr id="106" name="Google Shape;106;p2"/>
          <p:cNvGraphicFramePr/>
          <p:nvPr/>
        </p:nvGraphicFramePr>
        <p:xfrm>
          <a:off x="306191" y="2354728"/>
          <a:ext cx="3000000" cy="3000000"/>
        </p:xfrm>
        <a:graphic>
          <a:graphicData uri="http://schemas.openxmlformats.org/drawingml/2006/table">
            <a:tbl>
              <a:tblPr bandRow="1" firstRow="1">
                <a:noFill/>
                <a:tableStyleId>{032B9882-6660-486C-9397-FC278D5751BE}</a:tableStyleId>
              </a:tblPr>
              <a:tblGrid>
                <a:gridCol w="1730425"/>
                <a:gridCol w="278950"/>
                <a:gridCol w="6527575"/>
              </a:tblGrid>
              <a:tr h="464050">
                <a:tc>
                  <a:txBody>
                    <a:bodyPr/>
                    <a:lstStyle/>
                    <a:p>
                      <a:pPr indent="0" lvl="0" marL="0" marR="0" rtl="0" algn="l">
                        <a:lnSpc>
                          <a:spcPct val="200000"/>
                        </a:lnSpc>
                        <a:spcBef>
                          <a:spcPts val="0"/>
                        </a:spcBef>
                        <a:spcAft>
                          <a:spcPts val="0"/>
                        </a:spcAft>
                        <a:buClr>
                          <a:schemeClr val="dk1"/>
                        </a:buClr>
                        <a:buSzPts val="1800"/>
                        <a:buFont typeface="Arial"/>
                        <a:buNone/>
                      </a:pPr>
                      <a:r>
                        <a:rPr b="1" lang="en-US" sz="1400" u="none" cap="none" strike="noStrike">
                          <a:latin typeface="Arial"/>
                          <a:ea typeface="Arial"/>
                          <a:cs typeface="Arial"/>
                          <a:sym typeface="Arial"/>
                        </a:rPr>
                        <a:t>Team Num</a:t>
                      </a:r>
                      <a:endParaRPr b="1"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400"/>
                        <a:buFont typeface="Arial"/>
                        <a:buNone/>
                      </a:pPr>
                      <a:r>
                        <a:rPr b="1" lang="en-US" sz="1400" u="none" cap="none" strike="noStrike">
                          <a:latin typeface="Arial"/>
                          <a:ea typeface="Arial"/>
                          <a:cs typeface="Arial"/>
                          <a:sym typeface="Arial"/>
                        </a:rPr>
                        <a:t>:</a:t>
                      </a:r>
                      <a:endParaRPr b="1"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chemeClr val="dk1"/>
                        </a:buClr>
                        <a:buSzPts val="1800"/>
                        <a:buFont typeface="Arial"/>
                        <a:buNone/>
                      </a:pPr>
                      <a:r>
                        <a:rPr lang="en-US" sz="1400" u="none" cap="none" strike="noStrike">
                          <a:latin typeface="Arial"/>
                          <a:ea typeface="Arial"/>
                          <a:cs typeface="Arial"/>
                          <a:sym typeface="Arial"/>
                        </a:rPr>
                        <a:t>T-&lt;&lt;Enter any four-digit number&gt;&gt;</a:t>
                      </a:r>
                      <a:endParaRPr sz="1400" u="none" cap="none" strike="noStrike">
                        <a:latin typeface="Arial"/>
                        <a:ea typeface="Arial"/>
                        <a:cs typeface="Arial"/>
                        <a:sym typeface="Arial"/>
                      </a:endParaRPr>
                    </a:p>
                  </a:txBody>
                  <a:tcPr marT="45725" marB="45725" marR="91450" marL="91450" anchor="ctr"/>
                </a:tc>
              </a:tr>
              <a:tr h="478875">
                <a:tc>
                  <a:txBody>
                    <a:bodyPr/>
                    <a:lstStyle/>
                    <a:p>
                      <a:pPr indent="0" lvl="0" marL="0" marR="0" rtl="0" algn="l">
                        <a:lnSpc>
                          <a:spcPct val="200000"/>
                        </a:lnSpc>
                        <a:spcBef>
                          <a:spcPts val="0"/>
                        </a:spcBef>
                        <a:spcAft>
                          <a:spcPts val="0"/>
                        </a:spcAft>
                        <a:buClr>
                          <a:schemeClr val="dk1"/>
                        </a:buClr>
                        <a:buSzPts val="1800"/>
                        <a:buFont typeface="Arial"/>
                        <a:buNone/>
                      </a:pPr>
                      <a:r>
                        <a:rPr b="1" lang="en-US" sz="1400" u="none" cap="none" strike="noStrike">
                          <a:latin typeface="Arial"/>
                          <a:ea typeface="Arial"/>
                          <a:cs typeface="Arial"/>
                          <a:sym typeface="Arial"/>
                        </a:rPr>
                        <a:t>Team Name</a:t>
                      </a:r>
                      <a:endParaRPr b="1"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400"/>
                        <a:buFont typeface="Arial"/>
                        <a:buNone/>
                      </a:pPr>
                      <a:r>
                        <a:rPr b="1" lang="en-US" sz="1400" u="none" cap="none" strike="noStrike">
                          <a:latin typeface="Arial"/>
                          <a:ea typeface="Arial"/>
                          <a:cs typeface="Arial"/>
                          <a:sym typeface="Arial"/>
                        </a:rPr>
                        <a:t>:</a:t>
                      </a:r>
                      <a:endParaRPr b="1"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chemeClr val="dk1"/>
                        </a:buClr>
                        <a:buSzPts val="1800"/>
                        <a:buFont typeface="Arial"/>
                        <a:buNone/>
                      </a:pPr>
                      <a:r>
                        <a:rPr lang="en-US" sz="1400" u="none" cap="none" strike="noStrike">
                          <a:latin typeface="Arial"/>
                          <a:ea typeface="Arial"/>
                          <a:cs typeface="Arial"/>
                          <a:sym typeface="Arial"/>
                        </a:rPr>
                        <a:t>&lt;&lt;Team Name&gt;&gt;</a:t>
                      </a:r>
                      <a:endParaRPr sz="1400" u="none" cap="none" strike="noStrike">
                        <a:latin typeface="Arial"/>
                        <a:ea typeface="Arial"/>
                        <a:cs typeface="Arial"/>
                        <a:sym typeface="Arial"/>
                      </a:endParaRPr>
                    </a:p>
                  </a:txBody>
                  <a:tcPr marT="45725" marB="45725" marR="91450" marL="91450" anchor="ctr"/>
                </a:tc>
              </a:tr>
              <a:tr h="504000">
                <a:tc>
                  <a:txBody>
                    <a:bodyPr/>
                    <a:lstStyle/>
                    <a:p>
                      <a:pPr indent="0" lvl="0" marL="0" marR="0" rtl="0" algn="l">
                        <a:lnSpc>
                          <a:spcPct val="200000"/>
                        </a:lnSpc>
                        <a:spcBef>
                          <a:spcPts val="0"/>
                        </a:spcBef>
                        <a:spcAft>
                          <a:spcPts val="0"/>
                        </a:spcAft>
                        <a:buClr>
                          <a:schemeClr val="dk1"/>
                        </a:buClr>
                        <a:buSzPts val="1800"/>
                        <a:buFont typeface="Calibri"/>
                        <a:buNone/>
                      </a:pPr>
                      <a:r>
                        <a:rPr b="1" lang="en-US" sz="1400" u="none" cap="none" strike="noStrike">
                          <a:latin typeface="Arial"/>
                          <a:ea typeface="Arial"/>
                          <a:cs typeface="Arial"/>
                          <a:sym typeface="Arial"/>
                        </a:rPr>
                        <a:t>Problem Theme</a:t>
                      </a:r>
                      <a:endParaRPr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800"/>
                        <a:buFont typeface="Arial"/>
                        <a:buNone/>
                      </a:pPr>
                      <a:r>
                        <a:rPr b="1" lang="en-US" sz="1400" u="none" cap="none" strike="noStrike">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800"/>
                        <a:buFont typeface="Arial"/>
                        <a:buNone/>
                      </a:pPr>
                      <a:r>
                        <a:rPr lang="en-US" sz="1400" u="none" cap="none" strike="noStrike">
                          <a:latin typeface="Arial"/>
                          <a:ea typeface="Arial"/>
                          <a:cs typeface="Arial"/>
                          <a:sym typeface="Arial"/>
                        </a:rPr>
                        <a:t>AI in Healthcare &amp; Life Sciences (AI and its applied domain)</a:t>
                      </a:r>
                      <a:endParaRPr sz="1400" u="none" cap="none" strike="noStrike">
                        <a:latin typeface="Arial"/>
                        <a:ea typeface="Arial"/>
                        <a:cs typeface="Arial"/>
                        <a:sym typeface="Arial"/>
                      </a:endParaRPr>
                    </a:p>
                  </a:txBody>
                  <a:tcPr marT="45725" marB="45725" marR="91450" marL="91450" anchor="ctr"/>
                </a:tc>
              </a:tr>
              <a:tr h="543975">
                <a:tc>
                  <a:txBody>
                    <a:bodyPr/>
                    <a:lstStyle/>
                    <a:p>
                      <a:pPr indent="0" lvl="0" marL="0" marR="0" rtl="0" algn="l">
                        <a:lnSpc>
                          <a:spcPct val="200000"/>
                        </a:lnSpc>
                        <a:spcBef>
                          <a:spcPts val="0"/>
                        </a:spcBef>
                        <a:spcAft>
                          <a:spcPts val="0"/>
                        </a:spcAft>
                        <a:buClr>
                          <a:srgbClr val="000000"/>
                        </a:buClr>
                        <a:buSzPts val="1800"/>
                        <a:buFont typeface="Arial"/>
                        <a:buNone/>
                      </a:pPr>
                      <a:r>
                        <a:rPr b="1" lang="en-US" sz="1400" u="none" cap="none" strike="noStrike">
                          <a:latin typeface="Arial"/>
                          <a:ea typeface="Arial"/>
                          <a:cs typeface="Arial"/>
                          <a:sym typeface="Arial"/>
                        </a:rPr>
                        <a:t>Institute Name</a:t>
                      </a:r>
                      <a:endParaRPr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800"/>
                        <a:buFont typeface="Arial"/>
                        <a:buNone/>
                      </a:pPr>
                      <a:r>
                        <a:rPr b="1" lang="en-US" sz="1400" u="none" cap="none" strike="noStrike">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800"/>
                        <a:buFont typeface="Arial"/>
                        <a:buNone/>
                      </a:pPr>
                      <a:r>
                        <a:rPr lang="en-US" sz="1400" u="none" cap="none" strike="noStrike">
                          <a:latin typeface="Arial"/>
                          <a:ea typeface="Arial"/>
                          <a:cs typeface="Arial"/>
                          <a:sym typeface="Arial"/>
                        </a:rPr>
                        <a:t>&lt;&lt; Institute / University Name &gt;&gt;</a:t>
                      </a:r>
                      <a:endParaRPr sz="1400" u="none" cap="none" strike="noStrike">
                        <a:latin typeface="Arial"/>
                        <a:ea typeface="Arial"/>
                        <a:cs typeface="Arial"/>
                        <a:sym typeface="Arial"/>
                      </a:endParaRPr>
                    </a:p>
                  </a:txBody>
                  <a:tcPr marT="45725" marB="45725" marR="91450" marL="91450" anchor="ctr"/>
                </a:tc>
              </a:tr>
              <a:tr h="464075">
                <a:tc>
                  <a:txBody>
                    <a:bodyPr/>
                    <a:lstStyle/>
                    <a:p>
                      <a:pPr indent="0" lvl="0" marL="0" marR="0" rtl="0" algn="l">
                        <a:lnSpc>
                          <a:spcPct val="200000"/>
                        </a:lnSpc>
                        <a:spcBef>
                          <a:spcPts val="0"/>
                        </a:spcBef>
                        <a:spcAft>
                          <a:spcPts val="0"/>
                        </a:spcAft>
                        <a:buClr>
                          <a:schemeClr val="dk1"/>
                        </a:buClr>
                        <a:buSzPts val="1800"/>
                        <a:buFont typeface="Calibri"/>
                        <a:buNone/>
                      </a:pPr>
                      <a:r>
                        <a:rPr b="1" lang="en-US" sz="1400" u="none" cap="none" strike="noStrike">
                          <a:latin typeface="Arial"/>
                          <a:ea typeface="Arial"/>
                          <a:cs typeface="Arial"/>
                          <a:sym typeface="Arial"/>
                        </a:rPr>
                        <a:t>Team Members</a:t>
                      </a:r>
                      <a:endParaRPr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800"/>
                        <a:buFont typeface="Arial"/>
                        <a:buNone/>
                      </a:pPr>
                      <a:r>
                        <a:rPr b="1" lang="en-US" sz="1400" u="none" cap="none" strike="noStrike">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800"/>
                        <a:buFont typeface="Arial"/>
                        <a:buNone/>
                      </a:pPr>
                      <a:r>
                        <a:rPr lang="en-US" sz="1400" u="none" cap="none" strike="noStrike">
                          <a:latin typeface="Arial"/>
                          <a:ea typeface="Arial"/>
                          <a:cs typeface="Arial"/>
                          <a:sym typeface="Arial"/>
                        </a:rPr>
                        <a:t>&lt;&lt; All the team members separated with comma &gt;&gt;</a:t>
                      </a:r>
                      <a:endParaRPr sz="1400" u="none" cap="none" strike="noStrike">
                        <a:latin typeface="Arial"/>
                        <a:ea typeface="Arial"/>
                        <a:cs typeface="Arial"/>
                        <a:sym typeface="Arial"/>
                      </a:endParaRPr>
                    </a:p>
                  </a:txBody>
                  <a:tcPr marT="45725" marB="45725" marR="91450" marL="91450" anchor="ctr"/>
                </a:tc>
              </a:tr>
              <a:tr h="450725">
                <a:tc>
                  <a:txBody>
                    <a:bodyPr/>
                    <a:lstStyle/>
                    <a:p>
                      <a:pPr indent="0" lvl="0" marL="0" marR="0" rtl="0" algn="l">
                        <a:lnSpc>
                          <a:spcPct val="200000"/>
                        </a:lnSpc>
                        <a:spcBef>
                          <a:spcPts val="0"/>
                        </a:spcBef>
                        <a:spcAft>
                          <a:spcPts val="0"/>
                        </a:spcAft>
                        <a:buClr>
                          <a:srgbClr val="000000"/>
                        </a:buClr>
                        <a:buSzPts val="1800"/>
                        <a:buFont typeface="Arial"/>
                        <a:buNone/>
                      </a:pPr>
                      <a:r>
                        <a:rPr b="1" lang="en-US" sz="1400" u="none" cap="none" strike="noStrike">
                          <a:latin typeface="Arial"/>
                          <a:ea typeface="Arial"/>
                          <a:cs typeface="Arial"/>
                          <a:sym typeface="Arial"/>
                        </a:rPr>
                        <a:t>Contact</a:t>
                      </a:r>
                      <a:endParaRPr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800"/>
                        <a:buFont typeface="Arial"/>
                        <a:buNone/>
                      </a:pPr>
                      <a:r>
                        <a:rPr b="1" lang="en-US" sz="1400" u="none" cap="none" strike="noStrike">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nchor="ctr"/>
                </a:tc>
                <a:tc>
                  <a:txBody>
                    <a:bodyPr/>
                    <a:lstStyle/>
                    <a:p>
                      <a:pPr indent="0" lvl="0" marL="0" marR="0" rtl="0" algn="l">
                        <a:lnSpc>
                          <a:spcPct val="200000"/>
                        </a:lnSpc>
                        <a:spcBef>
                          <a:spcPts val="0"/>
                        </a:spcBef>
                        <a:spcAft>
                          <a:spcPts val="0"/>
                        </a:spcAft>
                        <a:buClr>
                          <a:srgbClr val="000000"/>
                        </a:buClr>
                        <a:buSzPts val="1800"/>
                        <a:buFont typeface="Arial"/>
                        <a:buNone/>
                      </a:pPr>
                      <a:r>
                        <a:rPr lang="en-US" sz="1400" u="none" cap="none" strike="noStrike">
                          <a:latin typeface="Arial"/>
                          <a:ea typeface="Arial"/>
                          <a:cs typeface="Arial"/>
                          <a:sym typeface="Arial"/>
                        </a:rPr>
                        <a:t>&lt;&lt; Email id and contact number of the team leader &gt;&gt;</a:t>
                      </a:r>
                      <a:endParaRPr sz="1400" u="none" cap="none" strike="noStrike">
                        <a:latin typeface="Arial"/>
                        <a:ea typeface="Arial"/>
                        <a:cs typeface="Arial"/>
                        <a:sym typeface="Arial"/>
                      </a:endParaRPr>
                    </a:p>
                  </a:txBody>
                  <a:tcPr marT="45725" marB="45725" marR="91450" marL="91450" anchor="ctr"/>
                </a:tc>
              </a:tr>
            </a:tbl>
          </a:graphicData>
        </a:graphic>
      </p:graphicFrame>
      <p:sp>
        <p:nvSpPr>
          <p:cNvPr id="107" name="Google Shape;107;p2"/>
          <p:cNvSpPr txBox="1"/>
          <p:nvPr/>
        </p:nvSpPr>
        <p:spPr>
          <a:xfrm>
            <a:off x="3339733" y="5703770"/>
            <a:ext cx="2469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Date: </a:t>
            </a:r>
            <a:r>
              <a:rPr b="1" lang="en-US" sz="1800">
                <a:solidFill>
                  <a:schemeClr val="dk1"/>
                </a:solidFill>
                <a:latin typeface="Times New Roman"/>
                <a:ea typeface="Times New Roman"/>
                <a:cs typeface="Times New Roman"/>
                <a:sym typeface="Times New Roman"/>
              </a:rPr>
              <a:t>&lt;&lt;Event Date&gt;&gt;</a:t>
            </a:r>
            <a:endParaRPr b="0" i="0" sz="1400" u="none" cap="none" strike="noStrike">
              <a:solidFill>
                <a:srgbClr val="000000"/>
              </a:solidFill>
              <a:latin typeface="Arial"/>
              <a:ea typeface="Arial"/>
              <a:cs typeface="Arial"/>
              <a:sym typeface="Arial"/>
            </a:endParaRPr>
          </a:p>
        </p:txBody>
      </p:sp>
      <p:sp>
        <p:nvSpPr>
          <p:cNvPr id="108" name="Google Shape;108;p2"/>
          <p:cNvSpPr txBox="1"/>
          <p:nvPr/>
        </p:nvSpPr>
        <p:spPr>
          <a:xfrm>
            <a:off x="548640" y="1239900"/>
            <a:ext cx="8046720" cy="507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100"/>
              <a:buFont typeface="Arial"/>
              <a:buNone/>
            </a:pPr>
            <a:r>
              <a:rPr b="1" i="0" lang="en-US" sz="2100" u="none" cap="none" strike="noStrike">
                <a:solidFill>
                  <a:schemeClr val="dk1"/>
                </a:solidFill>
                <a:latin typeface="Arial"/>
                <a:ea typeface="Arial"/>
                <a:cs typeface="Arial"/>
                <a:sym typeface="Arial"/>
              </a:rPr>
              <a:t>Doctor Nexus: An AI Auditor for Missed Surgical Bills</a:t>
            </a:r>
            <a:endParaRPr b="1" i="0" sz="2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ph type="title"/>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1. Background</a:t>
            </a:r>
            <a:endParaRPr b="0" i="0" sz="1400" u="none" cap="none" strike="noStrike">
              <a:solidFill>
                <a:srgbClr val="000000"/>
              </a:solidFill>
              <a:latin typeface="Arial"/>
              <a:ea typeface="Arial"/>
              <a:cs typeface="Arial"/>
              <a:sym typeface="Arial"/>
            </a:endParaRPr>
          </a:p>
        </p:txBody>
      </p:sp>
      <p:sp>
        <p:nvSpPr>
          <p:cNvPr id="115" name="Google Shape;115;p3"/>
          <p:cNvSpPr txBox="1"/>
          <p:nvPr>
            <p:ph idx="1" type="body"/>
          </p:nvPr>
        </p:nvSpPr>
        <p:spPr>
          <a:xfrm>
            <a:off x="476250" y="992498"/>
            <a:ext cx="4754880" cy="5294002"/>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800"/>
              <a:buNone/>
            </a:pPr>
            <a:r>
              <a:rPr lang="en-US" sz="1600" b="0">
                <a:solidFill>
                  <a:srgbClr val="1F1F1F"/>
                </a:solidFill>
                <a:latin typeface="Times New Roman"/>
                <a:ea typeface="Times New Roman"/>
                <a:cs typeface="Times New Roman"/>
                <a:sym typeface="Times New Roman"/>
              </a:rPr>
              <a:t>During surgery, the team writes down what they used: screws, stents, grafts, clips.</a:t>
            </a:r>
          </a:p>
          <a:p>
            <a:pPr indent="0" lvl="0" marL="0" rtl="0" algn="l">
              <a:lnSpc>
                <a:spcPct val="90000"/>
              </a:lnSpc>
              <a:spcBef>
                <a:spcPts val="1000"/>
              </a:spcBef>
              <a:spcAft>
                <a:spcPts val="0"/>
              </a:spcAft>
              <a:buSzPts val="1800"/>
              <a:buNone/>
            </a:pPr>
            <a:r>
              <a:rPr lang="en-US" sz="1600" b="0">
                <a:solidFill>
                  <a:srgbClr val="1F1F1F"/>
                </a:solidFill>
                <a:latin typeface="Times New Roman"/>
                <a:ea typeface="Times New Roman"/>
                <a:cs typeface="Times New Roman"/>
                <a:sym typeface="Times New Roman"/>
              </a:rPr>
              <a:t>Later, someone in billing types up the bill by hand from those notes.</a:t>
            </a:r>
          </a:p>
          <a:p>
            <a:pPr indent="0" lvl="0" marL="0" rtl="0" algn="l">
              <a:lnSpc>
                <a:spcPct val="90000"/>
              </a:lnSpc>
              <a:spcBef>
                <a:spcPts val="1000"/>
              </a:spcBef>
              <a:spcAft>
                <a:spcPts val="0"/>
              </a:spcAft>
              <a:buSzPts val="1800"/>
              <a:buNone/>
            </a:pPr>
            <a:r>
              <a:rPr lang="en-US" sz="1600" b="0">
                <a:solidFill>
                  <a:srgbClr val="1F1F1F"/>
                </a:solidFill>
                <a:latin typeface="Times New Roman"/>
                <a:ea typeface="Times New Roman"/>
                <a:cs typeface="Times New Roman"/>
                <a:sym typeface="Times New Roman"/>
              </a:rPr>
              <a:t>Things slip through. The note says two stents, the bill says one. Usually nobody spots it until the patient has gone home.</a:t>
            </a:r>
          </a:p>
          <a:p>
            <a:pPr indent="0" lvl="0" marL="0" rtl="0" algn="l">
              <a:lnSpc>
                <a:spcPct val="90000"/>
              </a:lnSpc>
              <a:spcBef>
                <a:spcPts val="1800"/>
              </a:spcBef>
              <a:spcAft>
                <a:spcPts val="0"/>
              </a:spcAft>
              <a:buSzPts val="1800"/>
              <a:buNone/>
            </a:pPr>
            <a:r>
              <a:rPr lang="en-US" sz="1600" b="1">
                <a:solidFill>
                  <a:srgbClr val="1F1F1F"/>
                </a:solidFill>
                <a:latin typeface="Times New Roman"/>
                <a:ea typeface="Times New Roman"/>
                <a:cs typeface="Times New Roman"/>
                <a:sym typeface="Times New Roman"/>
              </a:rPr>
              <a:t>Who this is for</a:t>
            </a:r>
          </a:p>
          <a:p>
            <a:pPr indent="0" lvl="0" marL="0" rtl="0" algn="l">
              <a:lnSpc>
                <a:spcPct val="90000"/>
              </a:lnSpc>
              <a:spcBef>
                <a:spcPts val="400"/>
              </a:spcBef>
              <a:spcAft>
                <a:spcPts val="0"/>
              </a:spcAft>
              <a:buSzPts val="1800"/>
              <a:buNone/>
            </a:pPr>
            <a:r>
              <a:rPr lang="en-US" sz="1600" b="0">
                <a:solidFill>
                  <a:srgbClr val="1F1F1F"/>
                </a:solidFill>
                <a:latin typeface="Times New Roman"/>
                <a:ea typeface="Times New Roman"/>
                <a:cs typeface="Times New Roman"/>
                <a:sym typeface="Times New Roman"/>
              </a:rPr>
              <a:t>Billing teams, hospital admins and finance heads in large (tertiary care) hospitals.</a:t>
            </a:r>
          </a:p>
        </p:txBody>
      </p:sp>
      <p:sp>
        <p:nvSpPr>
          <p:cNvPr id="116" name="Google Shape;116;p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17" name="Rectangle 116"/>
          <p:cNvSpPr/>
          <p:nvPr/>
        </p:nvSpPr>
        <p:spPr>
          <a:xfrm>
            <a:off x="5623560" y="1143000"/>
            <a:ext cx="3063240" cy="224028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r>
              <a:rPr sz="4400" b="1" i="0">
                <a:solidFill>
                  <a:srgbClr val="C00000"/>
                </a:solidFill>
                <a:latin typeface="Arial"/>
              </a:rPr>
              <a:t>1–5%</a:t>
            </a:r>
          </a:p>
          <a:p>
            <a:pPr algn="l">
              <a:spcBef>
                <a:spcPts val="400"/>
              </a:spcBef>
            </a:pPr>
            <a:r>
              <a:rPr sz="1300" b="0" i="0">
                <a:solidFill>
                  <a:srgbClr val="36454F"/>
                </a:solidFill>
                <a:latin typeface="Arial"/>
              </a:rPr>
              <a:t>of a hospital's net revenue is lost to charges that never get captured</a:t>
            </a:r>
          </a:p>
          <a:p>
            <a:pPr algn="l">
              <a:spcBef>
                <a:spcPts val="400"/>
              </a:spcBef>
            </a:pPr>
            <a:r>
              <a:rPr sz="1000" b="0" i="1">
                <a:solidFill>
                  <a:srgbClr val="708090"/>
                </a:solidFill>
                <a:latin typeface="Arial"/>
              </a:rPr>
              <a:t>HFMA estimate</a:t>
            </a:r>
          </a:p>
        </p:txBody>
      </p:sp>
      <p:sp>
        <p:nvSpPr>
          <p:cNvPr id="118" name="Rectangle 117"/>
          <p:cNvSpPr/>
          <p:nvPr/>
        </p:nvSpPr>
        <p:spPr>
          <a:xfrm>
            <a:off x="5623560" y="3611880"/>
            <a:ext cx="3063240" cy="224028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r>
              <a:rPr sz="4400" b="1" i="0">
                <a:solidFill>
                  <a:srgbClr val="36454F"/>
                </a:solidFill>
                <a:latin typeface="Arial"/>
              </a:rPr>
              <a:t>$7.5M</a:t>
            </a:r>
          </a:p>
          <a:p>
            <a:pPr algn="l">
              <a:spcBef>
                <a:spcPts val="400"/>
              </a:spcBef>
            </a:pPr>
            <a:r>
              <a:rPr sz="1300" b="0" i="0">
                <a:solidFill>
                  <a:srgbClr val="36454F"/>
                </a:solidFill>
                <a:latin typeface="Arial"/>
              </a:rPr>
              <a:t>recovered in 15 months by one 14-hospital system after fixing its charge capture</a:t>
            </a:r>
          </a:p>
          <a:p>
            <a:pPr algn="l">
              <a:spcBef>
                <a:spcPts val="400"/>
              </a:spcBef>
            </a:pPr>
            <a:r>
              <a:rPr sz="1000" b="0" i="1">
                <a:solidFill>
                  <a:srgbClr val="708090"/>
                </a:solidFill>
                <a:latin typeface="Arial"/>
              </a:rPr>
              <a:t>Novant Health, reported by HFMA</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idx="1" type="body"/>
          </p:nvPr>
        </p:nvSpPr>
        <p:spPr>
          <a:xfrm>
            <a:off x="476251" y="992498"/>
            <a:ext cx="8220074" cy="8229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800"/>
              <a:buNone/>
            </a:pPr>
            <a:r>
              <a:rPr lang="en-US" sz="1600" b="0">
                <a:solidFill>
                  <a:srgbClr val="1F1F1F"/>
                </a:solidFill>
                <a:latin typeface="Times New Roman"/>
                <a:ea typeface="Times New Roman"/>
                <a:cs typeface="Times New Roman"/>
                <a:sym typeface="Times New Roman"/>
              </a:rPr>
              <a:t>The surgery notes and the bill don't talk to each other. Here's a real record from our test data:</a:t>
            </a:r>
          </a:p>
        </p:txBody>
      </p:sp>
      <p:sp>
        <p:nvSpPr>
          <p:cNvPr id="123" name="Google Shape;123;p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24" name="Google Shape;124;p4"/>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2. Problem Statement</a:t>
            </a:r>
            <a:endParaRPr b="0" i="0" sz="1400" u="none" cap="none" strike="noStrike">
              <a:solidFill>
                <a:srgbClr val="000000"/>
              </a:solidFill>
              <a:latin typeface="Arial"/>
              <a:ea typeface="Arial"/>
              <a:cs typeface="Arial"/>
              <a:sym typeface="Arial"/>
            </a:endParaRPr>
          </a:p>
        </p:txBody>
      </p:sp>
      <p:sp>
        <p:nvSpPr>
          <p:cNvPr id="125" name="Rectangle 124"/>
          <p:cNvSpPr/>
          <p:nvPr/>
        </p:nvSpPr>
        <p:spPr>
          <a:xfrm>
            <a:off x="502920" y="1920240"/>
            <a:ext cx="3657600" cy="41148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FFFFFF"/>
                </a:solidFill>
                <a:latin typeface="Arial"/>
              </a:rPr>
              <a:t>What the OT note says</a:t>
            </a:r>
          </a:p>
        </p:txBody>
      </p:sp>
      <p:sp>
        <p:nvSpPr>
          <p:cNvPr id="126" name="Rectangle 125"/>
          <p:cNvSpPr/>
          <p:nvPr/>
        </p:nvSpPr>
        <p:spPr>
          <a:xfrm>
            <a:off x="502920" y="2331720"/>
            <a:ext cx="3657600" cy="16002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r>
              <a:rPr sz="1100" b="0" i="0">
                <a:solidFill>
                  <a:srgbClr val="708090"/>
                </a:solidFill>
                <a:latin typeface="Arial"/>
              </a:rPr>
              <a:t>Patient P-002 · Cardiac stenting</a:t>
            </a:r>
          </a:p>
          <a:p>
            <a:pPr algn="l">
              <a:spcBef>
                <a:spcPts val="800"/>
              </a:spcBef>
            </a:pPr>
            <a:r>
              <a:rPr sz="1400" b="0" i="1">
                <a:solidFill>
                  <a:srgbClr val="1F1F1F"/>
                </a:solidFill>
                <a:latin typeface="Arial"/>
              </a:rPr>
              <a:t>“2x Onyx Stents (3.5mm) deployed in LAD. 1x Emerge Balloon used for pre-dilation.”</a:t>
            </a:r>
          </a:p>
        </p:txBody>
      </p:sp>
      <p:sp>
        <p:nvSpPr>
          <p:cNvPr id="127" name="Rectangle 126"/>
          <p:cNvSpPr/>
          <p:nvPr/>
        </p:nvSpPr>
        <p:spPr>
          <a:xfrm>
            <a:off x="4983480" y="1920240"/>
            <a:ext cx="3657600" cy="41148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300" b="1" i="0">
                <a:solidFill>
                  <a:srgbClr val="FFFFFF"/>
                </a:solidFill>
                <a:latin typeface="Arial"/>
              </a:rPr>
              <a:t>What the bill says</a:t>
            </a:r>
          </a:p>
        </p:txBody>
      </p:sp>
      <p:sp>
        <p:nvSpPr>
          <p:cNvPr id="128" name="Rectangle 127"/>
          <p:cNvSpPr/>
          <p:nvPr/>
        </p:nvSpPr>
        <p:spPr>
          <a:xfrm>
            <a:off x="4983480" y="2331720"/>
            <a:ext cx="3657600" cy="16002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r>
              <a:rPr sz="1100" b="0" i="0">
                <a:solidFill>
                  <a:srgbClr val="708090"/>
                </a:solidFill>
                <a:latin typeface="Arial"/>
              </a:rPr>
              <a:t>Billing invoice</a:t>
            </a:r>
          </a:p>
          <a:p>
            <a:pPr algn="l">
              <a:spcBef>
                <a:spcPts val="800"/>
              </a:spcBef>
            </a:pPr>
            <a:r>
              <a:rPr sz="1800" b="1" i="0">
                <a:solidFill>
                  <a:srgbClr val="1F1F1F"/>
                </a:solidFill>
                <a:latin typeface="Arial"/>
              </a:rPr>
              <a:t>Onyx Stent  ×  1</a:t>
            </a:r>
          </a:p>
        </p:txBody>
      </p:sp>
      <p:cxnSp>
        <p:nvCxnSpPr>
          <p:cNvPr id="129" name="Connector 128"/>
          <p:cNvCxnSpPr/>
          <p:nvPr/>
        </p:nvCxnSpPr>
        <p:spPr>
          <a:xfrm>
            <a:off x="4224528" y="3127248"/>
            <a:ext cx="694944" cy="0"/>
          </a:xfrm>
          <a:prstGeom prst="line">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30" name="Rectangle 129"/>
          <p:cNvSpPr/>
          <p:nvPr/>
        </p:nvSpPr>
        <p:spPr>
          <a:xfrm>
            <a:off x="502920" y="4206240"/>
            <a:ext cx="8138160" cy="685800"/>
          </a:xfrm>
          <a:prstGeom prst="rect">
            <a:avLst/>
          </a:prstGeom>
          <a:no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1" i="0">
                <a:solidFill>
                  <a:srgbClr val="C00000"/>
                </a:solidFill>
                <a:latin typeface="Arial"/>
              </a:rPr>
              <a:t>Missing from the bill: 1 stent and 1 balloon</a:t>
            </a:r>
          </a:p>
        </p:txBody>
      </p:sp>
      <p:sp>
        <p:nvSpPr>
          <p:cNvPr id="131" name="TextBox 130"/>
          <p:cNvSpPr txBox="1"/>
          <p:nvPr/>
        </p:nvSpPr>
        <p:spPr>
          <a:xfrm>
            <a:off x="502920" y="5120640"/>
            <a:ext cx="8138160" cy="1097280"/>
          </a:xfrm>
          <a:prstGeom prst="rect">
            <a:avLst/>
          </a:prstGeom>
          <a:noFill/>
        </p:spPr>
        <p:txBody>
          <a:bodyPr wrap="square">
            <a:spAutoFit/>
          </a:bodyPr>
          <a:lstStyle/>
          <a:p>
            <a:pPr>
              <a:spcBef>
                <a:spcPts val="0"/>
              </a:spcBef>
            </a:pPr>
            <a:r>
              <a:rPr sz="1500" b="0">
                <a:solidFill>
                  <a:srgbClr val="1F1F1F"/>
                </a:solidFill>
                <a:latin typeface="Times New Roman"/>
              </a:rPr>
              <a:t>Checking every bill against every note by hand takes hours, so it rarely happens. Simple keyword checks don't help much either: “Ti screw” and “Titanium Interference Screw” look like two different items to a computer.</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idx="1" type="body"/>
          </p:nvPr>
        </p:nvSpPr>
        <p:spPr>
          <a:xfrm>
            <a:off x="466725" y="992497"/>
            <a:ext cx="8220075" cy="548640"/>
          </a:xfrm>
          <a:prstGeom prst="rect">
            <a:avLst/>
          </a:prstGeom>
          <a:noFill/>
          <a:ln>
            <a:noFill/>
          </a:ln>
        </p:spPr>
        <p:txBody>
          <a:bodyPr anchorCtr="0" anchor="t" bIns="45700" lIns="0" spcFirstLastPara="1" rIns="0" wrap="square" tIns="45700">
            <a:normAutofit/>
          </a:bodyPr>
          <a:lstStyle/>
          <a:p>
            <a:pPr indent="0" lvl="0" marL="0" rtl="0" algn="l">
              <a:lnSpc>
                <a:spcPct val="150000"/>
              </a:lnSpc>
              <a:spcBef>
                <a:spcPts val="0"/>
              </a:spcBef>
              <a:spcAft>
                <a:spcPts val="0"/>
              </a:spcAft>
              <a:buSzPts val="1800"/>
              <a:buNone/>
            </a:pPr>
            <a:r>
              <a:rPr lang="en-US" sz="1600" b="0">
                <a:solidFill>
                  <a:srgbClr val="1F1F1F"/>
                </a:solidFill>
                <a:latin typeface="Times New Roman"/>
                <a:ea typeface="Times New Roman"/>
                <a:cs typeface="Times New Roman"/>
                <a:sym typeface="Times New Roman"/>
              </a:rPr>
              <a:t>What we want Doctor Nexus to do:</a:t>
            </a:r>
          </a:p>
        </p:txBody>
      </p:sp>
      <p:sp>
        <p:nvSpPr>
          <p:cNvPr id="131" name="Google Shape;131;p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32" name="Google Shape;132;p5"/>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3. Objectives</a:t>
            </a:r>
            <a:endParaRPr b="0" i="0" sz="1400" u="none" cap="none" strike="noStrike">
              <a:solidFill>
                <a:srgbClr val="000000"/>
              </a:solidFill>
              <a:latin typeface="Arial"/>
              <a:ea typeface="Arial"/>
              <a:cs typeface="Arial"/>
              <a:sym typeface="Arial"/>
            </a:endParaRPr>
          </a:p>
        </p:txBody>
      </p:sp>
      <p:sp>
        <p:nvSpPr>
          <p:cNvPr id="133" name="Oval 132"/>
          <p:cNvSpPr/>
          <p:nvPr/>
        </p:nvSpPr>
        <p:spPr>
          <a:xfrm>
            <a:off x="548640" y="1801368"/>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Arial"/>
              </a:rPr>
              <a:t>1</a:t>
            </a:r>
          </a:p>
        </p:txBody>
      </p:sp>
      <p:sp>
        <p:nvSpPr>
          <p:cNvPr id="134" name="Rectangle 133"/>
          <p:cNvSpPr/>
          <p:nvPr/>
        </p:nvSpPr>
        <p:spPr>
          <a:xfrm>
            <a:off x="1280160" y="1691640"/>
            <a:ext cx="7315200" cy="86868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700" b="1" i="0">
                <a:solidFill>
                  <a:srgbClr val="1F1F1F"/>
                </a:solidFill>
                <a:latin typeface="Times New Roman"/>
              </a:rPr>
              <a:t>Read messy OT notes like a person would</a:t>
            </a:r>
          </a:p>
          <a:p>
            <a:pPr algn="l">
              <a:spcBef>
                <a:spcPts val="400"/>
              </a:spcBef>
            </a:pPr>
            <a:r>
              <a:rPr sz="1400" b="0" i="0">
                <a:solidFill>
                  <a:srgbClr val="36454F"/>
                </a:solidFill>
                <a:latin typeface="Times New Roman"/>
              </a:rPr>
              <a:t>Understand brand names, short forms and quantities written in free text.</a:t>
            </a:r>
          </a:p>
        </p:txBody>
      </p:sp>
      <p:sp>
        <p:nvSpPr>
          <p:cNvPr id="135" name="Oval 134"/>
          <p:cNvSpPr/>
          <p:nvPr/>
        </p:nvSpPr>
        <p:spPr>
          <a:xfrm>
            <a:off x="548640" y="2916936"/>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Arial"/>
              </a:rPr>
              <a:t>2</a:t>
            </a:r>
          </a:p>
        </p:txBody>
      </p:sp>
      <p:sp>
        <p:nvSpPr>
          <p:cNvPr id="136" name="Rectangle 135"/>
          <p:cNvSpPr/>
          <p:nvPr/>
        </p:nvSpPr>
        <p:spPr>
          <a:xfrm>
            <a:off x="1280160" y="2807208"/>
            <a:ext cx="73152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700" b="1" i="0">
                <a:solidFill>
                  <a:srgbClr val="1F1F1F"/>
                </a:solidFill>
                <a:latin typeface="Times New Roman"/>
              </a:rPr>
              <a:t>Compare every note with its bill</a:t>
            </a:r>
          </a:p>
          <a:p>
            <a:pPr algn="l">
              <a:spcBef>
                <a:spcPts val="400"/>
              </a:spcBef>
            </a:pPr>
            <a:r>
              <a:rPr sz="1400" b="0" i="0">
                <a:solidFill>
                  <a:srgbClr val="36454F"/>
                </a:solidFill>
                <a:latin typeface="Times New Roman"/>
              </a:rPr>
              <a:t>Flag items that were used but not billed, or billed in a smaller quantity.</a:t>
            </a:r>
          </a:p>
        </p:txBody>
      </p:sp>
      <p:sp>
        <p:nvSpPr>
          <p:cNvPr id="137" name="Oval 136"/>
          <p:cNvSpPr/>
          <p:nvPr/>
        </p:nvSpPr>
        <p:spPr>
          <a:xfrm>
            <a:off x="548640" y="4032504"/>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Arial"/>
              </a:rPr>
              <a:t>3</a:t>
            </a:r>
          </a:p>
        </p:txBody>
      </p:sp>
      <p:sp>
        <p:nvSpPr>
          <p:cNvPr id="138" name="Rectangle 137"/>
          <p:cNvSpPr/>
          <p:nvPr/>
        </p:nvSpPr>
        <p:spPr>
          <a:xfrm>
            <a:off x="1280160" y="3922776"/>
            <a:ext cx="7315200" cy="86868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700" b="1" i="0">
                <a:solidFill>
                  <a:srgbClr val="1F1F1F"/>
                </a:solidFill>
                <a:latin typeface="Times New Roman"/>
              </a:rPr>
              <a:t>Report before the patient is discharged</a:t>
            </a:r>
          </a:p>
          <a:p>
            <a:pPr algn="l">
              <a:spcBef>
                <a:spcPts val="400"/>
              </a:spcBef>
            </a:pPr>
            <a:r>
              <a:rPr sz="1400" b="0" i="0">
                <a:solidFill>
                  <a:srgbClr val="36454F"/>
                </a:solidFill>
                <a:latin typeface="Times New Roman"/>
              </a:rPr>
              <a:t>Give admins a clear recovery table while the bill can still be corrected.</a:t>
            </a:r>
          </a:p>
        </p:txBody>
      </p:sp>
      <p:sp>
        <p:nvSpPr>
          <p:cNvPr id="139" name="Oval 138"/>
          <p:cNvSpPr/>
          <p:nvPr/>
        </p:nvSpPr>
        <p:spPr>
          <a:xfrm>
            <a:off x="548640" y="5148072"/>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Arial"/>
              </a:rPr>
              <a:t>4</a:t>
            </a:r>
          </a:p>
        </p:txBody>
      </p:sp>
      <p:sp>
        <p:nvSpPr>
          <p:cNvPr id="140" name="Rectangle 139"/>
          <p:cNvSpPr/>
          <p:nvPr/>
        </p:nvSpPr>
        <p:spPr>
          <a:xfrm>
            <a:off x="1280160" y="5038344"/>
            <a:ext cx="73152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700" b="1" i="0">
                <a:solidFill>
                  <a:srgbClr val="1F1F1F"/>
                </a:solidFill>
                <a:latin typeface="Times New Roman"/>
              </a:rPr>
              <a:t>Keep patient records on the hospital's own machines</a:t>
            </a:r>
          </a:p>
          <a:p>
            <a:pPr algn="l">
              <a:spcBef>
                <a:spcPts val="400"/>
              </a:spcBef>
            </a:pPr>
            <a:r>
              <a:rPr sz="1400" b="0" i="0">
                <a:solidFill>
                  <a:srgbClr val="36454F"/>
                </a:solidFill>
                <a:latin typeface="Times New Roman"/>
              </a:rPr>
              <a:t>Raw files stay local. The AI model only sees what it needs to reason.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idx="1" type="body"/>
          </p:nvPr>
        </p:nvSpPr>
        <p:spPr>
          <a:xfrm>
            <a:off x="457201" y="992498"/>
            <a:ext cx="8258174" cy="118872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800"/>
              <a:buNone/>
            </a:pPr>
            <a:r>
              <a:rPr lang="en-US" sz="1600" b="0">
                <a:solidFill>
                  <a:srgbClr val="1F1F1F"/>
                </a:solidFill>
                <a:latin typeface="Times New Roman"/>
                <a:ea typeface="Times New Roman"/>
                <a:cs typeface="Times New Roman"/>
                <a:sym typeface="Times New Roman"/>
              </a:rPr>
              <a:t>Doctor Nexus is an AI assistant that admins can simply message on Telegram. Type “Audit this” and it replies with a table of everything that was used in theatre but not charged.</a:t>
            </a:r>
          </a:p>
        </p:txBody>
      </p:sp>
      <p:sp>
        <p:nvSpPr>
          <p:cNvPr id="139" name="Google Shape;139;p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40" name="Google Shape;140;p6"/>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4. Proposed Solution</a:t>
            </a:r>
            <a:endParaRPr b="0" i="0" sz="1400" u="none" cap="none" strike="noStrike">
              <a:solidFill>
                <a:srgbClr val="000000"/>
              </a:solidFill>
              <a:latin typeface="Arial"/>
              <a:ea typeface="Arial"/>
              <a:cs typeface="Arial"/>
              <a:sym typeface="Arial"/>
            </a:endParaRPr>
          </a:p>
        </p:txBody>
      </p:sp>
      <p:sp>
        <p:nvSpPr>
          <p:cNvPr id="141" name="Rectangle 140"/>
          <p:cNvSpPr/>
          <p:nvPr/>
        </p:nvSpPr>
        <p:spPr>
          <a:xfrm>
            <a:off x="502920" y="2011680"/>
            <a:ext cx="1828800" cy="59436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1" i="0">
                <a:solidFill>
                  <a:srgbClr val="FFFFFF"/>
                </a:solidFill>
                <a:latin typeface="Arial"/>
              </a:rPr>
              <a:t>Read</a:t>
            </a:r>
          </a:p>
        </p:txBody>
      </p:sp>
      <p:sp>
        <p:nvSpPr>
          <p:cNvPr id="142" name="Rectangle 141"/>
          <p:cNvSpPr/>
          <p:nvPr/>
        </p:nvSpPr>
        <p:spPr>
          <a:xfrm>
            <a:off x="502920" y="2606040"/>
            <a:ext cx="1828800" cy="132588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400" b="0" i="0">
                <a:solidFill>
                  <a:srgbClr val="1F1F1F"/>
                </a:solidFill>
                <a:latin typeface="Arial"/>
              </a:rPr>
              <a:t>Pulls in the OT notes and the bills for the day</a:t>
            </a:r>
          </a:p>
        </p:txBody>
      </p:sp>
      <p:cxnSp>
        <p:nvCxnSpPr>
          <p:cNvPr id="143" name="Connector 142"/>
          <p:cNvCxnSpPr/>
          <p:nvPr/>
        </p:nvCxnSpPr>
        <p:spPr>
          <a:xfrm>
            <a:off x="2359151" y="2313432"/>
            <a:ext cx="219457" cy="0"/>
          </a:xfrm>
          <a:prstGeom prst="line">
            <a:avLst/>
          </a:prstGeom>
          <a:ln w="22225">
            <a:solidFill>
              <a:srgbClr val="708090"/>
            </a:solidFill>
            <a:tailEnd type="triangle"/>
          </a:ln>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2606039" y="2011680"/>
            <a:ext cx="1828800" cy="59436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1" i="0">
                <a:solidFill>
                  <a:srgbClr val="FFFFFF"/>
                </a:solidFill>
                <a:latin typeface="Arial"/>
              </a:rPr>
              <a:t>Match</a:t>
            </a:r>
          </a:p>
        </p:txBody>
      </p:sp>
      <p:sp>
        <p:nvSpPr>
          <p:cNvPr id="145" name="Rectangle 144"/>
          <p:cNvSpPr/>
          <p:nvPr/>
        </p:nvSpPr>
        <p:spPr>
          <a:xfrm>
            <a:off x="2606039" y="2606040"/>
            <a:ext cx="1828800" cy="132588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400" b="0" i="0">
                <a:solidFill>
                  <a:srgbClr val="1F1F1F"/>
                </a:solidFill>
                <a:latin typeface="Arial"/>
              </a:rPr>
              <a:t>Lines up each item in the notes with the bill, even when names differ</a:t>
            </a:r>
          </a:p>
        </p:txBody>
      </p:sp>
      <p:cxnSp>
        <p:nvCxnSpPr>
          <p:cNvPr id="146" name="Connector 145"/>
          <p:cNvCxnSpPr/>
          <p:nvPr/>
        </p:nvCxnSpPr>
        <p:spPr>
          <a:xfrm>
            <a:off x="4462272" y="2313432"/>
            <a:ext cx="219455" cy="0"/>
          </a:xfrm>
          <a:prstGeom prst="line">
            <a:avLst/>
          </a:prstGeom>
          <a:ln w="22225">
            <a:solidFill>
              <a:srgbClr val="708090"/>
            </a:solidFill>
            <a:tailEnd type="triangle"/>
          </a:ln>
        </p:spPr>
        <p:style>
          <a:lnRef idx="2">
            <a:schemeClr val="accent1"/>
          </a:lnRef>
          <a:fillRef idx="0">
            <a:schemeClr val="accent1"/>
          </a:fillRef>
          <a:effectRef idx="1">
            <a:schemeClr val="accent1"/>
          </a:effectRef>
          <a:fontRef idx="minor">
            <a:schemeClr val="tx1"/>
          </a:fontRef>
        </p:style>
      </p:cxnSp>
      <p:sp>
        <p:nvSpPr>
          <p:cNvPr id="147" name="Rectangle 146"/>
          <p:cNvSpPr/>
          <p:nvPr/>
        </p:nvSpPr>
        <p:spPr>
          <a:xfrm>
            <a:off x="4709159" y="2011680"/>
            <a:ext cx="1828800" cy="5943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1" i="0">
                <a:solidFill>
                  <a:srgbClr val="FFFFFF"/>
                </a:solidFill>
                <a:latin typeface="Arial"/>
              </a:rPr>
              <a:t>Flag</a:t>
            </a:r>
          </a:p>
        </p:txBody>
      </p:sp>
      <p:sp>
        <p:nvSpPr>
          <p:cNvPr id="148" name="Rectangle 147"/>
          <p:cNvSpPr/>
          <p:nvPr/>
        </p:nvSpPr>
        <p:spPr>
          <a:xfrm>
            <a:off x="4709159" y="2606040"/>
            <a:ext cx="1828800" cy="132588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400" b="0" i="0">
                <a:solidFill>
                  <a:srgbClr val="1F1F1F"/>
                </a:solidFill>
                <a:latin typeface="Arial"/>
              </a:rPr>
              <a:t>Marks items missing completely or billed short</a:t>
            </a:r>
          </a:p>
        </p:txBody>
      </p:sp>
      <p:cxnSp>
        <p:nvCxnSpPr>
          <p:cNvPr id="149" name="Connector 148"/>
          <p:cNvCxnSpPr/>
          <p:nvPr/>
        </p:nvCxnSpPr>
        <p:spPr>
          <a:xfrm>
            <a:off x="6565392" y="2313432"/>
            <a:ext cx="219455" cy="0"/>
          </a:xfrm>
          <a:prstGeom prst="line">
            <a:avLst/>
          </a:prstGeom>
          <a:ln w="22225">
            <a:solidFill>
              <a:srgbClr val="708090"/>
            </a:solidFill>
            <a:tailEnd type="triangle"/>
          </a:ln>
        </p:spPr>
        <p:style>
          <a:lnRef idx="2">
            <a:schemeClr val="accent1"/>
          </a:lnRef>
          <a:fillRef idx="0">
            <a:schemeClr val="accent1"/>
          </a:fillRef>
          <a:effectRef idx="1">
            <a:schemeClr val="accent1"/>
          </a:effectRef>
          <a:fontRef idx="minor">
            <a:schemeClr val="tx1"/>
          </a:fontRef>
        </p:style>
      </p:cxnSp>
      <p:sp>
        <p:nvSpPr>
          <p:cNvPr id="150" name="Rectangle 149"/>
          <p:cNvSpPr/>
          <p:nvPr/>
        </p:nvSpPr>
        <p:spPr>
          <a:xfrm>
            <a:off x="6812279" y="2011680"/>
            <a:ext cx="1828800" cy="59436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1" i="0">
                <a:solidFill>
                  <a:srgbClr val="FFFFFF"/>
                </a:solidFill>
                <a:latin typeface="Arial"/>
              </a:rPr>
              <a:t>Report</a:t>
            </a:r>
          </a:p>
        </p:txBody>
      </p:sp>
      <p:sp>
        <p:nvSpPr>
          <p:cNvPr id="151" name="Rectangle 150"/>
          <p:cNvSpPr/>
          <p:nvPr/>
        </p:nvSpPr>
        <p:spPr>
          <a:xfrm>
            <a:off x="6812279" y="2606040"/>
            <a:ext cx="1828800" cy="132588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400" b="0" i="0">
                <a:solidFill>
                  <a:srgbClr val="1F1F1F"/>
                </a:solidFill>
                <a:latin typeface="Arial"/>
              </a:rPr>
              <a:t>Sends back a recovery table with patient, item and estimated value</a:t>
            </a:r>
          </a:p>
        </p:txBody>
      </p:sp>
      <p:sp>
        <p:nvSpPr>
          <p:cNvPr id="152" name="Rectangle 151"/>
          <p:cNvSpPr/>
          <p:nvPr/>
        </p:nvSpPr>
        <p:spPr>
          <a:xfrm>
            <a:off x="502920" y="4343400"/>
            <a:ext cx="8138160" cy="1005840"/>
          </a:xfrm>
          <a:prstGeom prst="rect">
            <a:avLst/>
          </a:prstGeom>
          <a:noFill/>
          <a:ln w="12700">
            <a:solidFill>
              <a:srgbClr val="D3D3D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r>
              <a:rPr sz="1500" b="1" i="0">
                <a:solidFill>
                  <a:srgbClr val="1F1F1F"/>
                </a:solidFill>
                <a:latin typeface="Arial"/>
              </a:rPr>
              <a:t>Built on the hospital's own data</a:t>
            </a:r>
          </a:p>
          <a:p>
            <a:pPr algn="l">
              <a:spcBef>
                <a:spcPts val="400"/>
              </a:spcBef>
            </a:pPr>
            <a:r>
              <a:rPr sz="1300" b="0" i="0">
                <a:solidFill>
                  <a:srgbClr val="36454F"/>
                </a:solidFill>
                <a:latin typeface="Arial"/>
              </a:rPr>
              <a:t>It works on top of the existing hospital software (HMS). No new system for staff to learn, just a chat.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7" name="Google Shape;147;p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48" name="Google Shape;148;p7"/>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5. Novelty and Show Stopper</a:t>
            </a:r>
            <a:endParaRPr b="0" i="0" sz="1400" u="none" cap="none" strike="noStrike">
              <a:solidFill>
                <a:srgbClr val="000000"/>
              </a:solidFill>
              <a:latin typeface="Arial"/>
              <a:ea typeface="Arial"/>
              <a:cs typeface="Arial"/>
              <a:sym typeface="Arial"/>
            </a:endParaRPr>
          </a:p>
        </p:txBody>
      </p:sp>
      <p:graphicFrame>
        <p:nvGraphicFramePr>
          <p:cNvPr id="149" name="Table 148"/>
          <p:cNvGraphicFramePr>
            <a:graphicFrameLocks noGrp="1"/>
          </p:cNvGraphicFramePr>
          <p:nvPr/>
        </p:nvGraphicFramePr>
        <p:xfrm>
          <a:off x="502920" y="1143000"/>
          <a:ext cx="8138160" cy="3017520"/>
        </p:xfrm>
        <a:graphic>
          <a:graphicData uri="http://schemas.openxmlformats.org/drawingml/2006/table">
            <a:tbl>
              <a:tblPr firstRow="1" bandRow="1">
                <a:tableStyleId>{5C22544A-7EE6-4342-B048-85BDC9FD1C3A}</a:tableStyleId>
              </a:tblPr>
              <a:tblGrid>
                <a:gridCol w="1737360"/>
                <a:gridCol w="2926080"/>
                <a:gridCol w="3474720"/>
              </a:tblGrid>
              <a:tr h="603504">
                <a:tc>
                  <a:txBody>
                    <a:bodyPr/>
                    <a:lstStyle/>
                    <a:p>
                      <a:r>
                        <a:rPr sz="1400" b="1">
                          <a:solidFill>
                            <a:srgbClr val="FFFFFF"/>
                          </a:solidFill>
                          <a:latin typeface="Arial"/>
                        </a:rPr>
                        <a:t/>
                      </a:r>
                    </a:p>
                  </a:txBody>
                  <a:tcPr marL="109728" marR="109728" anchor="ctr">
                    <a:solidFill>
                      <a:srgbClr val="36454F"/>
                    </a:solidFill>
                  </a:tcPr>
                </a:tc>
                <a:tc>
                  <a:txBody>
                    <a:bodyPr/>
                    <a:lstStyle/>
                    <a:p>
                      <a:r>
                        <a:rPr sz="1400" b="1">
                          <a:solidFill>
                            <a:srgbClr val="FFFFFF"/>
                          </a:solidFill>
                          <a:latin typeface="Arial"/>
                        </a:rPr>
                        <a:t>Usual billing checks</a:t>
                      </a:r>
                    </a:p>
                  </a:txBody>
                  <a:tcPr marL="109728" marR="109728" anchor="ctr">
                    <a:solidFill>
                      <a:srgbClr val="36454F"/>
                    </a:solidFill>
                  </a:tcPr>
                </a:tc>
                <a:tc>
                  <a:txBody>
                    <a:bodyPr/>
                    <a:lstStyle/>
                    <a:p>
                      <a:r>
                        <a:rPr sz="1400" b="1">
                          <a:solidFill>
                            <a:srgbClr val="FFFFFF"/>
                          </a:solidFill>
                          <a:latin typeface="Arial"/>
                        </a:rPr>
                        <a:t>Doctor Nexus</a:t>
                      </a:r>
                    </a:p>
                  </a:txBody>
                  <a:tcPr marL="109728" marR="109728" anchor="ctr">
                    <a:solidFill>
                      <a:srgbClr val="36454F"/>
                    </a:solidFill>
                  </a:tcPr>
                </a:tc>
              </a:tr>
              <a:tr h="603504">
                <a:tc>
                  <a:txBody>
                    <a:bodyPr/>
                    <a:lstStyle/>
                    <a:p>
                      <a:r>
                        <a:rPr sz="1400" b="1">
                          <a:solidFill>
                            <a:srgbClr val="1F1F1F"/>
                          </a:solidFill>
                          <a:latin typeface="Arial"/>
                        </a:rPr>
                        <a:t>Matching</a:t>
                      </a:r>
                    </a:p>
                  </a:txBody>
                  <a:tcPr marL="109728" marR="109728" anchor="ctr">
                    <a:solidFill>
                      <a:srgbClr val="F2F3F4"/>
                    </a:solidFill>
                  </a:tcPr>
                </a:tc>
                <a:tc>
                  <a:txBody>
                    <a:bodyPr/>
                    <a:lstStyle/>
                    <a:p>
                      <a:r>
                        <a:rPr sz="1400" b="0">
                          <a:solidFill>
                            <a:srgbClr val="1F1F1F"/>
                          </a:solidFill>
                          <a:latin typeface="Arial"/>
                        </a:rPr>
                        <a:t>Exact text only</a:t>
                      </a:r>
                    </a:p>
                  </a:txBody>
                  <a:tcPr marL="109728" marR="109728" anchor="ctr">
                    <a:solidFill>
                      <a:srgbClr val="F2F3F4"/>
                    </a:solidFill>
                  </a:tcPr>
                </a:tc>
                <a:tc>
                  <a:txBody>
                    <a:bodyPr/>
                    <a:lstStyle/>
                    <a:p>
                      <a:r>
                        <a:rPr sz="1400" b="0">
                          <a:solidFill>
                            <a:srgbClr val="C00000"/>
                          </a:solidFill>
                          <a:latin typeface="Arial"/>
                        </a:rPr>
                        <a:t>Understands short forms and brand names</a:t>
                      </a:r>
                    </a:p>
                  </a:txBody>
                  <a:tcPr marL="109728" marR="109728" anchor="ctr">
                    <a:solidFill>
                      <a:srgbClr val="F2F3F4"/>
                    </a:solidFill>
                  </a:tcPr>
                </a:tc>
              </a:tr>
              <a:tr h="603504">
                <a:tc>
                  <a:txBody>
                    <a:bodyPr/>
                    <a:lstStyle/>
                    <a:p>
                      <a:r>
                        <a:rPr sz="1400" b="1">
                          <a:solidFill>
                            <a:srgbClr val="1F1F1F"/>
                          </a:solidFill>
                          <a:latin typeface="Arial"/>
                        </a:rPr>
                        <a:t>Hidden items</a:t>
                      </a:r>
                    </a:p>
                  </a:txBody>
                  <a:tcPr marL="109728" marR="109728" anchor="ctr">
                    <a:solidFill>
                      <a:srgbClr val="FFFFFF"/>
                    </a:solidFill>
                  </a:tcPr>
                </a:tc>
                <a:tc>
                  <a:txBody>
                    <a:bodyPr/>
                    <a:lstStyle/>
                    <a:p>
                      <a:r>
                        <a:rPr sz="1400" b="0">
                          <a:solidFill>
                            <a:srgbClr val="1F1F1F"/>
                          </a:solidFill>
                          <a:latin typeface="Arial"/>
                        </a:rPr>
                        <a:t>Only checks what's written</a:t>
                      </a:r>
                    </a:p>
                  </a:txBody>
                  <a:tcPr marL="109728" marR="109728" anchor="ctr">
                    <a:solidFill>
                      <a:srgbClr val="FFFFFF"/>
                    </a:solidFill>
                  </a:tcPr>
                </a:tc>
                <a:tc>
                  <a:txBody>
                    <a:bodyPr/>
                    <a:lstStyle/>
                    <a:p>
                      <a:r>
                        <a:rPr sz="1400" b="0">
                          <a:solidFill>
                            <a:srgbClr val="C00000"/>
                          </a:solidFill>
                          <a:latin typeface="Arial"/>
                        </a:rPr>
                        <a:t>Knows a hip replacement normally needs bone cement</a:t>
                      </a:r>
                    </a:p>
                  </a:txBody>
                  <a:tcPr marL="109728" marR="109728" anchor="ctr">
                    <a:solidFill>
                      <a:srgbClr val="FFFFFF"/>
                    </a:solidFill>
                  </a:tcPr>
                </a:tc>
              </a:tr>
              <a:tr h="603504">
                <a:tc>
                  <a:txBody>
                    <a:bodyPr/>
                    <a:lstStyle/>
                    <a:p>
                      <a:r>
                        <a:rPr sz="1400" b="1">
                          <a:solidFill>
                            <a:srgbClr val="1F1F1F"/>
                          </a:solidFill>
                          <a:latin typeface="Arial"/>
                        </a:rPr>
                        <a:t>When</a:t>
                      </a:r>
                    </a:p>
                  </a:txBody>
                  <a:tcPr marL="109728" marR="109728" anchor="ctr">
                    <a:solidFill>
                      <a:srgbClr val="F2F3F4"/>
                    </a:solidFill>
                  </a:tcPr>
                </a:tc>
                <a:tc>
                  <a:txBody>
                    <a:bodyPr/>
                    <a:lstStyle/>
                    <a:p>
                      <a:r>
                        <a:rPr sz="1400" b="0">
                          <a:solidFill>
                            <a:srgbClr val="1F1F1F"/>
                          </a:solidFill>
                          <a:latin typeface="Arial"/>
                        </a:rPr>
                        <a:t>Monthly audit, after discharge</a:t>
                      </a:r>
                    </a:p>
                  </a:txBody>
                  <a:tcPr marL="109728" marR="109728" anchor="ctr">
                    <a:solidFill>
                      <a:srgbClr val="F2F3F4"/>
                    </a:solidFill>
                  </a:tcPr>
                </a:tc>
                <a:tc>
                  <a:txBody>
                    <a:bodyPr/>
                    <a:lstStyle/>
                    <a:p>
                      <a:r>
                        <a:rPr sz="1400" b="0">
                          <a:solidFill>
                            <a:srgbClr val="C00000"/>
                          </a:solidFill>
                          <a:latin typeface="Arial"/>
                        </a:rPr>
                        <a:t>Same day, before discharge</a:t>
                      </a:r>
                    </a:p>
                  </a:txBody>
                  <a:tcPr marL="109728" marR="109728" anchor="ctr">
                    <a:solidFill>
                      <a:srgbClr val="F2F3F4"/>
                    </a:solidFill>
                  </a:tcPr>
                </a:tc>
              </a:tr>
              <a:tr h="603504">
                <a:tc>
                  <a:txBody>
                    <a:bodyPr/>
                    <a:lstStyle/>
                    <a:p>
                      <a:r>
                        <a:rPr sz="1400" b="1">
                          <a:solidFill>
                            <a:srgbClr val="1F1F1F"/>
                          </a:solidFill>
                          <a:latin typeface="Arial"/>
                        </a:rPr>
                        <a:t>How you ask</a:t>
                      </a:r>
                    </a:p>
                  </a:txBody>
                  <a:tcPr marL="109728" marR="109728" anchor="ctr">
                    <a:solidFill>
                      <a:srgbClr val="FFFFFF"/>
                    </a:solidFill>
                  </a:tcPr>
                </a:tc>
                <a:tc>
                  <a:txBody>
                    <a:bodyPr/>
                    <a:lstStyle/>
                    <a:p>
                      <a:r>
                        <a:rPr sz="1400" b="0">
                          <a:solidFill>
                            <a:srgbClr val="1F1F1F"/>
                          </a:solidFill>
                          <a:latin typeface="Arial"/>
                        </a:rPr>
                        <a:t>Reports on a desktop</a:t>
                      </a:r>
                    </a:p>
                  </a:txBody>
                  <a:tcPr marL="109728" marR="109728" anchor="ctr">
                    <a:solidFill>
                      <a:srgbClr val="FFFFFF"/>
                    </a:solidFill>
                  </a:tcPr>
                </a:tc>
                <a:tc>
                  <a:txBody>
                    <a:bodyPr/>
                    <a:lstStyle/>
                    <a:p>
                      <a:r>
                        <a:rPr sz="1400" b="0">
                          <a:solidFill>
                            <a:srgbClr val="C00000"/>
                          </a:solidFill>
                          <a:latin typeface="Arial"/>
                        </a:rPr>
                        <a:t>Plain English, from your phone</a:t>
                      </a:r>
                    </a:p>
                  </a:txBody>
                  <a:tcPr marL="109728" marR="109728" anchor="ctr">
                    <a:solidFill>
                      <a:srgbClr val="FFFFFF"/>
                    </a:solidFill>
                  </a:tcPr>
                </a:tc>
              </a:tr>
            </a:tbl>
          </a:graphicData>
        </a:graphic>
      </p:graphicFrame>
      <p:sp>
        <p:nvSpPr>
          <p:cNvPr id="150" name="Rectangle 149"/>
          <p:cNvSpPr/>
          <p:nvPr/>
        </p:nvSpPr>
        <p:spPr>
          <a:xfrm>
            <a:off x="502920" y="4480560"/>
            <a:ext cx="8138160" cy="141732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l"/>
            <a:r>
              <a:rPr sz="1300" b="1" i="0">
                <a:solidFill>
                  <a:srgbClr val="C00000"/>
                </a:solidFill>
                <a:latin typeface="Arial"/>
              </a:rPr>
              <a:t>Show stopper</a:t>
            </a:r>
          </a:p>
          <a:p>
            <a:pPr algn="l">
              <a:spcBef>
                <a:spcPts val="600"/>
              </a:spcBef>
            </a:pPr>
            <a:r>
              <a:rPr sz="1600" b="0" i="0">
                <a:solidFill>
                  <a:srgbClr val="1F1F1F"/>
                </a:solidFill>
                <a:latin typeface="Arial"/>
              </a:rPr>
              <a:t>An admin types “Show me leakage for today's ortho surgeries” on their phone and gets back a ranked list of missed items, while the bill can still be fixed.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4" name="Google Shape;154;p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55" name="Google Shape;155;p8"/>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6. Methodology</a:t>
            </a:r>
            <a:endParaRPr b="0" i="0" sz="1400" u="none" cap="none" strike="noStrike">
              <a:solidFill>
                <a:srgbClr val="000000"/>
              </a:solidFill>
              <a:latin typeface="Arial"/>
              <a:ea typeface="Arial"/>
              <a:cs typeface="Arial"/>
              <a:sym typeface="Arial"/>
            </a:endParaRPr>
          </a:p>
        </p:txBody>
      </p:sp>
      <p:sp>
        <p:nvSpPr>
          <p:cNvPr id="156" name="Rectangle 155"/>
          <p:cNvSpPr/>
          <p:nvPr/>
        </p:nvSpPr>
        <p:spPr>
          <a:xfrm>
            <a:off x="2514600" y="1097280"/>
            <a:ext cx="3977639" cy="3611880"/>
          </a:xfrm>
          <a:prstGeom prst="rect">
            <a:avLst/>
          </a:prstGeom>
          <a:noFill/>
          <a:ln w="12700">
            <a:solidFill>
              <a:srgbClr val="7080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400" b="0" i="0">
                <a:solidFill>
                  <a:srgbClr val="1F1F1F"/>
                </a:solidFill>
                <a:latin typeface="Arial"/>
              </a:rPr>
              <a:t/>
            </a:r>
          </a:p>
        </p:txBody>
      </p:sp>
      <p:sp>
        <p:nvSpPr>
          <p:cNvPr id="157" name="Rectangle 156"/>
          <p:cNvSpPr/>
          <p:nvPr/>
        </p:nvSpPr>
        <p:spPr>
          <a:xfrm>
            <a:off x="2606040" y="1143000"/>
            <a:ext cx="3749039"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l"/>
            <a:r>
              <a:rPr sz="1100" b="1" i="0">
                <a:solidFill>
                  <a:srgbClr val="708090"/>
                </a:solidFill>
                <a:latin typeface="Arial"/>
              </a:rPr>
              <a:t>On the hospital's machine (OpenClaw gateway)</a:t>
            </a:r>
          </a:p>
        </p:txBody>
      </p:sp>
      <p:sp>
        <p:nvSpPr>
          <p:cNvPr id="158" name="Rounded Rectangle 157"/>
          <p:cNvSpPr/>
          <p:nvPr/>
        </p:nvSpPr>
        <p:spPr>
          <a:xfrm>
            <a:off x="411480" y="1874519"/>
            <a:ext cx="1691640" cy="1005840"/>
          </a:xfrm>
          <a:prstGeom prst="roundRect">
            <a:avLst>
              <a:gd name="adj" fmla="val 8000"/>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400" b="1" i="0">
                <a:solidFill>
                  <a:srgbClr val="1F1F1F"/>
                </a:solidFill>
                <a:latin typeface="Arial"/>
              </a:rPr>
              <a:t>Admin</a:t>
            </a:r>
          </a:p>
          <a:p>
            <a:pPr algn="ctr">
              <a:spcBef>
                <a:spcPts val="400"/>
              </a:spcBef>
            </a:pPr>
            <a:r>
              <a:rPr sz="1100" b="0" i="0">
                <a:solidFill>
                  <a:srgbClr val="36454F"/>
                </a:solidFill>
                <a:latin typeface="Arial"/>
              </a:rPr>
              <a:t>asks on Telegram</a:t>
            </a:r>
          </a:p>
        </p:txBody>
      </p:sp>
      <p:sp>
        <p:nvSpPr>
          <p:cNvPr id="159" name="Rounded Rectangle 158"/>
          <p:cNvSpPr/>
          <p:nvPr/>
        </p:nvSpPr>
        <p:spPr>
          <a:xfrm>
            <a:off x="2926080" y="1645920"/>
            <a:ext cx="3154680" cy="868680"/>
          </a:xfrm>
          <a:prstGeom prst="roundRect">
            <a:avLst>
              <a:gd name="adj" fmla="val 8000"/>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400" b="1" i="0">
                <a:solidFill>
                  <a:srgbClr val="FFFFFF"/>
                </a:solidFill>
                <a:latin typeface="Arial"/>
              </a:rPr>
              <a:t>Doctor Nexus agent</a:t>
            </a:r>
          </a:p>
          <a:p>
            <a:pPr algn="ctr">
              <a:spcBef>
                <a:spcPts val="400"/>
              </a:spcBef>
            </a:pPr>
            <a:r>
              <a:rPr sz="1100" b="0" i="0">
                <a:solidFill>
                  <a:srgbClr val="FFFFFF"/>
                </a:solidFill>
                <a:latin typeface="Arial"/>
              </a:rPr>
              <a:t>follows the auditor prompt</a:t>
            </a:r>
          </a:p>
        </p:txBody>
      </p:sp>
      <p:sp>
        <p:nvSpPr>
          <p:cNvPr id="160" name="Rounded Rectangle 159"/>
          <p:cNvSpPr/>
          <p:nvPr/>
        </p:nvSpPr>
        <p:spPr>
          <a:xfrm>
            <a:off x="2926080" y="3246120"/>
            <a:ext cx="1463040" cy="1188720"/>
          </a:xfrm>
          <a:prstGeom prst="roundRect">
            <a:avLst>
              <a:gd name="adj" fmla="val 8000"/>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300" b="1" i="0">
                <a:solidFill>
                  <a:srgbClr val="1F1F1F"/>
                </a:solidFill>
                <a:latin typeface="Arial"/>
              </a:rPr>
              <a:t>OT notes</a:t>
            </a:r>
          </a:p>
          <a:p>
            <a:pPr algn="ctr">
              <a:spcBef>
                <a:spcPts val="400"/>
              </a:spcBef>
            </a:pPr>
            <a:r>
              <a:rPr sz="1100" b="0" i="0">
                <a:solidFill>
                  <a:srgbClr val="36454F"/>
                </a:solidFill>
                <a:latin typeface="Arial"/>
              </a:rPr>
              <a:t>free text</a:t>
            </a:r>
          </a:p>
        </p:txBody>
      </p:sp>
      <p:sp>
        <p:nvSpPr>
          <p:cNvPr id="161" name="Rounded Rectangle 160"/>
          <p:cNvSpPr/>
          <p:nvPr/>
        </p:nvSpPr>
        <p:spPr>
          <a:xfrm>
            <a:off x="4617720" y="3246120"/>
            <a:ext cx="1463040" cy="1188720"/>
          </a:xfrm>
          <a:prstGeom prst="roundRect">
            <a:avLst>
              <a:gd name="adj" fmla="val 8000"/>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300" b="1" i="0">
                <a:solidFill>
                  <a:srgbClr val="1F1F1F"/>
                </a:solidFill>
                <a:latin typeface="Arial"/>
              </a:rPr>
              <a:t>Bills</a:t>
            </a:r>
          </a:p>
          <a:p>
            <a:pPr algn="ctr">
              <a:spcBef>
                <a:spcPts val="400"/>
              </a:spcBef>
            </a:pPr>
            <a:r>
              <a:rPr sz="1100" b="0" i="0">
                <a:solidFill>
                  <a:srgbClr val="36454F"/>
                </a:solidFill>
                <a:latin typeface="Arial"/>
              </a:rPr>
              <a:t>structured items</a:t>
            </a:r>
          </a:p>
        </p:txBody>
      </p:sp>
      <p:sp>
        <p:nvSpPr>
          <p:cNvPr id="162" name="Rounded Rectangle 161"/>
          <p:cNvSpPr/>
          <p:nvPr/>
        </p:nvSpPr>
        <p:spPr>
          <a:xfrm>
            <a:off x="6903720" y="1645920"/>
            <a:ext cx="1828800" cy="868680"/>
          </a:xfrm>
          <a:prstGeom prst="roundRect">
            <a:avLst>
              <a:gd name="adj" fmla="val 8000"/>
            </a:avLst>
          </a:prstGeom>
          <a:solidFill>
            <a:srgbClr val="F2F3F4"/>
          </a:solidFill>
          <a:ln w="12700">
            <a:solidFill>
              <a:srgbClr val="D3D3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400" b="1" i="0">
                <a:solidFill>
                  <a:srgbClr val="1F1F1F"/>
                </a:solidFill>
                <a:latin typeface="Arial"/>
              </a:rPr>
              <a:t>Gemini</a:t>
            </a:r>
          </a:p>
          <a:p>
            <a:pPr algn="ctr">
              <a:spcBef>
                <a:spcPts val="400"/>
              </a:spcBef>
            </a:pPr>
            <a:r>
              <a:rPr sz="1100" b="0" i="0">
                <a:solidFill>
                  <a:srgbClr val="36454F"/>
                </a:solidFill>
                <a:latin typeface="Arial"/>
              </a:rPr>
              <a:t>reasoning in the cloud</a:t>
            </a:r>
          </a:p>
        </p:txBody>
      </p:sp>
      <p:sp>
        <p:nvSpPr>
          <p:cNvPr id="163" name="Rounded Rectangle 162"/>
          <p:cNvSpPr/>
          <p:nvPr/>
        </p:nvSpPr>
        <p:spPr>
          <a:xfrm>
            <a:off x="411480" y="3520440"/>
            <a:ext cx="1691640" cy="9144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300" b="1" i="0">
                <a:solidFill>
                  <a:srgbClr val="FFFFFF"/>
                </a:solidFill>
                <a:latin typeface="Arial"/>
              </a:rPr>
              <a:t>Recovery table</a:t>
            </a:r>
          </a:p>
          <a:p>
            <a:pPr algn="ctr">
              <a:spcBef>
                <a:spcPts val="400"/>
              </a:spcBef>
            </a:pPr>
            <a:r>
              <a:rPr sz="1100" b="0" i="0">
                <a:solidFill>
                  <a:srgbClr val="FFFFFF"/>
                </a:solidFill>
                <a:latin typeface="Arial"/>
              </a:rPr>
              <a:t>back on the phone</a:t>
            </a:r>
          </a:p>
        </p:txBody>
      </p:sp>
      <p:cxnSp>
        <p:nvCxnSpPr>
          <p:cNvPr id="164" name="Connector 163"/>
          <p:cNvCxnSpPr/>
          <p:nvPr/>
        </p:nvCxnSpPr>
        <p:spPr>
          <a:xfrm flipV="1">
            <a:off x="2121408" y="2103120"/>
            <a:ext cx="758952" cy="137160"/>
          </a:xfrm>
          <a:prstGeom prst="line">
            <a:avLst/>
          </a:prstGeom>
          <a:ln w="22225">
            <a:solidFill>
              <a:srgbClr val="708090"/>
            </a:solidFill>
            <a:tailEnd type="triangle"/>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3657600" y="2560320"/>
            <a:ext cx="0" cy="640080"/>
          </a:xfrm>
          <a:prstGeom prst="line">
            <a:avLst/>
          </a:prstGeom>
          <a:ln w="22225">
            <a:solidFill>
              <a:srgbClr val="708090"/>
            </a:solidFill>
            <a:tailEnd type="triangle"/>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5349240" y="2560320"/>
            <a:ext cx="0" cy="640080"/>
          </a:xfrm>
          <a:prstGeom prst="line">
            <a:avLst/>
          </a:prstGeom>
          <a:ln w="22225">
            <a:solidFill>
              <a:srgbClr val="708090"/>
            </a:solidFill>
            <a:tailEnd type="triangle"/>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6126480" y="1965960"/>
            <a:ext cx="731520" cy="0"/>
          </a:xfrm>
          <a:prstGeom prst="line">
            <a:avLst/>
          </a:prstGeom>
          <a:ln w="22225">
            <a:solidFill>
              <a:srgbClr val="708090"/>
            </a:solidFill>
            <a:tailEnd type="triangle"/>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H="1">
            <a:off x="6126480" y="2286000"/>
            <a:ext cx="731520" cy="0"/>
          </a:xfrm>
          <a:prstGeom prst="line">
            <a:avLst/>
          </a:prstGeom>
          <a:ln w="22225">
            <a:solidFill>
              <a:srgbClr val="70809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H="1">
            <a:off x="2121408" y="2377440"/>
            <a:ext cx="758952" cy="1417320"/>
          </a:xfrm>
          <a:prstGeom prst="line">
            <a:avLst/>
          </a:prstGeom>
          <a:ln w="2222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70" name="Rectangle 169"/>
          <p:cNvSpPr/>
          <p:nvPr/>
        </p:nvSpPr>
        <p:spPr>
          <a:xfrm>
            <a:off x="4160520" y="2697480"/>
            <a:ext cx="82296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0" i="0">
                <a:solidFill>
                  <a:srgbClr val="708090"/>
                </a:solidFill>
                <a:latin typeface="Arial"/>
              </a:rPr>
              <a:t>read_file</a:t>
            </a:r>
          </a:p>
        </p:txBody>
      </p:sp>
      <p:sp>
        <p:nvSpPr>
          <p:cNvPr id="171" name="Oval 170"/>
          <p:cNvSpPr/>
          <p:nvPr/>
        </p:nvSpPr>
        <p:spPr>
          <a:xfrm>
            <a:off x="502920" y="4846320"/>
            <a:ext cx="256032" cy="256032"/>
          </a:xfrm>
          <a:prstGeom prst="ellipse">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Arial"/>
              </a:rPr>
              <a:t>1</a:t>
            </a:r>
          </a:p>
        </p:txBody>
      </p:sp>
      <p:sp>
        <p:nvSpPr>
          <p:cNvPr id="172" name="Rectangle 171"/>
          <p:cNvSpPr/>
          <p:nvPr/>
        </p:nvSpPr>
        <p:spPr>
          <a:xfrm>
            <a:off x="868680" y="4818888"/>
            <a:ext cx="77724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r>
              <a:rPr sz="1300" b="0" i="0">
                <a:solidFill>
                  <a:srgbClr val="1F1F1F"/>
                </a:solidFill>
                <a:latin typeface="Times New Roman"/>
              </a:rPr>
              <a:t>Admin sends a message to the Telegram bot.</a:t>
            </a:r>
          </a:p>
        </p:txBody>
      </p:sp>
      <p:sp>
        <p:nvSpPr>
          <p:cNvPr id="173" name="Oval 172"/>
          <p:cNvSpPr/>
          <p:nvPr/>
        </p:nvSpPr>
        <p:spPr>
          <a:xfrm>
            <a:off x="502920" y="5120640"/>
            <a:ext cx="256032" cy="256032"/>
          </a:xfrm>
          <a:prstGeom prst="ellipse">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Arial"/>
              </a:rPr>
              <a:t>2</a:t>
            </a:r>
          </a:p>
        </p:txBody>
      </p:sp>
      <p:sp>
        <p:nvSpPr>
          <p:cNvPr id="174" name="Rectangle 173"/>
          <p:cNvSpPr/>
          <p:nvPr/>
        </p:nvSpPr>
        <p:spPr>
          <a:xfrm>
            <a:off x="868680" y="5093207"/>
            <a:ext cx="77724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r>
              <a:rPr sz="1300" b="0" i="0">
                <a:solidFill>
                  <a:srgbClr val="1F1F1F"/>
                </a:solidFill>
                <a:latin typeface="Times New Roman"/>
              </a:rPr>
              <a:t>The agent reads the day's OT notes and bills with its read_file tool.</a:t>
            </a:r>
          </a:p>
        </p:txBody>
      </p:sp>
      <p:sp>
        <p:nvSpPr>
          <p:cNvPr id="175" name="Oval 174"/>
          <p:cNvSpPr/>
          <p:nvPr/>
        </p:nvSpPr>
        <p:spPr>
          <a:xfrm>
            <a:off x="502920" y="5394959"/>
            <a:ext cx="256032" cy="256032"/>
          </a:xfrm>
          <a:prstGeom prst="ellipse">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Arial"/>
              </a:rPr>
              <a:t>3</a:t>
            </a:r>
          </a:p>
        </p:txBody>
      </p:sp>
      <p:sp>
        <p:nvSpPr>
          <p:cNvPr id="176" name="Rectangle 175"/>
          <p:cNvSpPr/>
          <p:nvPr/>
        </p:nvSpPr>
        <p:spPr>
          <a:xfrm>
            <a:off x="868680" y="5367527"/>
            <a:ext cx="77724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r>
              <a:rPr sz="1300" b="0" i="0">
                <a:solidFill>
                  <a:srgbClr val="1F1F1F"/>
                </a:solidFill>
                <a:latin typeface="Times New Roman"/>
              </a:rPr>
              <a:t>Gemini compares them: missing items, short quantities, implied items.</a:t>
            </a:r>
          </a:p>
        </p:txBody>
      </p:sp>
      <p:sp>
        <p:nvSpPr>
          <p:cNvPr id="177" name="Oval 176"/>
          <p:cNvSpPr/>
          <p:nvPr/>
        </p:nvSpPr>
        <p:spPr>
          <a:xfrm>
            <a:off x="502920" y="5669279"/>
            <a:ext cx="256032" cy="256032"/>
          </a:xfrm>
          <a:prstGeom prst="ellipse">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Arial"/>
              </a:rPr>
              <a:t>4</a:t>
            </a:r>
          </a:p>
        </p:txBody>
      </p:sp>
      <p:sp>
        <p:nvSpPr>
          <p:cNvPr id="178" name="Rectangle 177"/>
          <p:cNvSpPr/>
          <p:nvPr/>
        </p:nvSpPr>
        <p:spPr>
          <a:xfrm>
            <a:off x="868680" y="5641847"/>
            <a:ext cx="77724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r>
              <a:rPr sz="1300" b="0" i="0">
                <a:solidFill>
                  <a:srgbClr val="1F1F1F"/>
                </a:solidFill>
                <a:latin typeface="Times New Roman"/>
              </a:rPr>
              <a:t>Each gap gets a value and a certainty (implants = high).</a:t>
            </a:r>
          </a:p>
        </p:txBody>
      </p:sp>
      <p:sp>
        <p:nvSpPr>
          <p:cNvPr id="179" name="Oval 178"/>
          <p:cNvSpPr/>
          <p:nvPr/>
        </p:nvSpPr>
        <p:spPr>
          <a:xfrm>
            <a:off x="502920" y="5943600"/>
            <a:ext cx="256032" cy="256032"/>
          </a:xfrm>
          <a:prstGeom prst="ellipse">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Arial"/>
              </a:rPr>
              <a:t>5</a:t>
            </a:r>
          </a:p>
        </p:txBody>
      </p:sp>
      <p:sp>
        <p:nvSpPr>
          <p:cNvPr id="180" name="Rectangle 179"/>
          <p:cNvSpPr/>
          <p:nvPr/>
        </p:nvSpPr>
        <p:spPr>
          <a:xfrm>
            <a:off x="868680" y="5916168"/>
            <a:ext cx="77724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r>
              <a:rPr sz="1300" b="0" i="0">
                <a:solidFill>
                  <a:srgbClr val="1F1F1F"/>
                </a:solidFill>
                <a:latin typeface="Times New Roman"/>
              </a:rPr>
              <a:t>A formatted recovery table goes back to the admin.</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9"/>
          <p:cNvSpPr txBox="1"/>
          <p:nvPr>
            <p:ph idx="1" type="body"/>
          </p:nvPr>
        </p:nvSpPr>
        <p:spPr>
          <a:xfrm>
            <a:off x="447675" y="992497"/>
            <a:ext cx="4124325" cy="5284477"/>
          </a:xfrm>
          <a:prstGeom prst="rect">
            <a:avLst/>
          </a:prstGeom>
          <a:noFill/>
          <a:ln cap="flat" cmpd="sng" w="12700">
            <a:solidFill>
              <a:schemeClr val="dk1"/>
            </a:solidFill>
            <a:prstDash val="solid"/>
            <a:round/>
            <a:headEnd len="sm" w="sm" type="none"/>
            <a:tailEnd len="sm" w="sm" type="none"/>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sz="1800" b="1">
                <a:solidFill>
                  <a:srgbClr val="1F1F1F"/>
                </a:solidFill>
                <a:latin typeface="Times New Roman"/>
                <a:ea typeface="Times New Roman"/>
                <a:cs typeface="Times New Roman"/>
                <a:sym typeface="Times New Roman"/>
              </a:rPr>
              <a:t>Tech stack used</a:t>
            </a:r>
          </a:p>
          <a:p>
            <a:pPr indent="-91440" lvl="0" marL="91440" rtl="0" algn="l">
              <a:lnSpc>
                <a:spcPct val="90000"/>
              </a:lnSpc>
              <a:spcBef>
                <a:spcPts val="1200"/>
              </a:spcBef>
              <a:spcAft>
                <a:spcPts val="0"/>
              </a:spcAft>
              <a:buSzPts val="2000"/>
              <a:buChar char=" "/>
            </a:pPr>
            <a:r>
              <a:rPr lang="en-US" sz="1500" b="0">
                <a:solidFill>
                  <a:srgbClr val="1F1F1F"/>
                </a:solidFill>
                <a:latin typeface="Times New Roman"/>
                <a:ea typeface="Times New Roman"/>
                <a:cs typeface="Times New Roman"/>
                <a:sym typeface="Times New Roman"/>
              </a:rPr>
              <a:t>OpenClaw: runs the agent locally and links it to Telegram</a:t>
            </a:r>
          </a:p>
          <a:p>
            <a:pPr indent="-91440" lvl="0" marL="91440" rtl="0" algn="l">
              <a:lnSpc>
                <a:spcPct val="90000"/>
              </a:lnSpc>
              <a:spcBef>
                <a:spcPts val="1000"/>
              </a:spcBef>
              <a:spcAft>
                <a:spcPts val="0"/>
              </a:spcAft>
              <a:buSzPts val="2000"/>
              <a:buChar char=" "/>
            </a:pPr>
            <a:r>
              <a:rPr lang="en-US" sz="1500" b="0">
                <a:solidFill>
                  <a:srgbClr val="1F1F1F"/>
                </a:solidFill>
                <a:latin typeface="Times New Roman"/>
                <a:ea typeface="Times New Roman"/>
                <a:cs typeface="Times New Roman"/>
                <a:sym typeface="Times New Roman"/>
              </a:rPr>
              <a:t>Google Gemini (2.0 Flash): reads notes and finds gaps</a:t>
            </a:r>
          </a:p>
          <a:p>
            <a:pPr indent="-91440" lvl="0" marL="91440" rtl="0" algn="l">
              <a:lnSpc>
                <a:spcPct val="90000"/>
              </a:lnSpc>
              <a:spcBef>
                <a:spcPts val="1000"/>
              </a:spcBef>
              <a:spcAft>
                <a:spcPts val="0"/>
              </a:spcAft>
              <a:buSzPts val="2000"/>
              <a:buChar char=" "/>
            </a:pPr>
            <a:r>
              <a:rPr lang="en-US" sz="1500" b="0">
                <a:solidFill>
                  <a:srgbClr val="1F1F1F"/>
                </a:solidFill>
                <a:latin typeface="Times New Roman"/>
                <a:ea typeface="Times New Roman"/>
                <a:cs typeface="Times New Roman"/>
                <a:sym typeface="Times New Roman"/>
              </a:rPr>
              <a:t>Telegram Bot: the chat screen admins use</a:t>
            </a:r>
          </a:p>
          <a:p>
            <a:pPr indent="-91440" lvl="0" marL="91440" rtl="0" algn="l">
              <a:lnSpc>
                <a:spcPct val="90000"/>
              </a:lnSpc>
              <a:spcBef>
                <a:spcPts val="1000"/>
              </a:spcBef>
              <a:spcAft>
                <a:spcPts val="0"/>
              </a:spcAft>
              <a:buSzPts val="2000"/>
              <a:buChar char=" "/>
            </a:pPr>
            <a:r>
              <a:rPr lang="en-US" sz="1500" b="0">
                <a:solidFill>
                  <a:srgbClr val="1F1F1F"/>
                </a:solidFill>
                <a:latin typeface="Times New Roman"/>
                <a:ea typeface="Times New Roman"/>
                <a:cs typeface="Times New Roman"/>
                <a:sym typeface="Times New Roman"/>
              </a:rPr>
              <a:t>JSON files: sample OT notes and bills for 25 patients</a:t>
            </a:r>
          </a:p>
          <a:p>
            <a:pPr indent="-91440" lvl="0" marL="91440" rtl="0" algn="l">
              <a:lnSpc>
                <a:spcPct val="90000"/>
              </a:lnSpc>
              <a:spcBef>
                <a:spcPts val="1000"/>
              </a:spcBef>
              <a:spcAft>
                <a:spcPts val="0"/>
              </a:spcAft>
              <a:buSzPts val="2000"/>
              <a:buChar char=" "/>
            </a:pPr>
            <a:r>
              <a:rPr lang="en-US" sz="1500" b="0">
                <a:solidFill>
                  <a:srgbClr val="1F1F1F"/>
                </a:solidFill>
                <a:latin typeface="Times New Roman"/>
                <a:ea typeface="Times New Roman"/>
                <a:cs typeface="Times New Roman"/>
                <a:sym typeface="Times New Roman"/>
              </a:rPr>
              <a:t>Python: our offline test runner (no API key needed)</a:t>
            </a:r>
          </a:p>
        </p:txBody>
      </p:sp>
      <p:sp>
        <p:nvSpPr>
          <p:cNvPr id="161" name="Google Shape;161;p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62" name="Google Shape;162;p9"/>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7. Tech Stack used and Budget</a:t>
            </a:r>
            <a:endParaRPr b="0" i="0" sz="1400" u="none" cap="none" strike="noStrike">
              <a:solidFill>
                <a:srgbClr val="000000"/>
              </a:solidFill>
              <a:latin typeface="Arial"/>
              <a:ea typeface="Arial"/>
              <a:cs typeface="Arial"/>
              <a:sym typeface="Arial"/>
            </a:endParaRPr>
          </a:p>
        </p:txBody>
      </p:sp>
      <p:sp>
        <p:nvSpPr>
          <p:cNvPr id="163" name="Google Shape;163;p9"/>
          <p:cNvSpPr txBox="1"/>
          <p:nvPr/>
        </p:nvSpPr>
        <p:spPr>
          <a:xfrm>
            <a:off x="4819650" y="992497"/>
            <a:ext cx="3962401" cy="5284477"/>
          </a:xfrm>
          <a:prstGeom prst="rect">
            <a:avLst/>
          </a:prstGeom>
          <a:noFill/>
          <a:ln cap="flat" cmpd="sng" w="12700">
            <a:solidFill>
              <a:schemeClr val="dk1"/>
            </a:solidFill>
            <a:prstDash val="solid"/>
            <a:round/>
            <a:headEnd len="sm" w="sm" type="none"/>
            <a:tailEnd len="sm" w="sm" type="none"/>
          </a:ln>
        </p:spPr>
        <p:txBody>
          <a:bodyPr anchorCtr="0" anchor="t" bIns="45700" lIns="0" spcFirstLastPara="1" rIns="0" wrap="square" tIns="45700">
            <a:normAutofit/>
          </a:bodyPr>
          <a:lstStyle/>
          <a:p>
            <a:pPr indent="-91440" lvl="0" marL="91440" marR="0" rtl="0" algn="l">
              <a:lnSpc>
                <a:spcPct val="90000"/>
              </a:lnSpc>
              <a:spcBef>
                <a:spcPts val="0"/>
              </a:spcBef>
              <a:spcAft>
                <a:spcPts val="0"/>
              </a:spcAft>
              <a:buClr>
                <a:schemeClr val="accent1"/>
              </a:buClr>
              <a:buSzPts val="2000"/>
              <a:buFont typeface="Calibri"/>
              <a:buChar char=" "/>
            </a:pPr>
            <a:r>
              <a:rPr b="1" i="0" lang="en-US" sz="1800" u="none" cap="none" strike="noStrike">
                <a:solidFill>
                  <a:srgbClr val="1F1F1F"/>
                </a:solidFill>
                <a:latin typeface="Times New Roman"/>
                <a:ea typeface="Times New Roman"/>
                <a:cs typeface="Times New Roman"/>
                <a:sym typeface="Times New Roman"/>
              </a:rPr>
              <a:t>Estimated Budget</a:t>
            </a:r>
          </a:p>
          <a:p>
            <a:pPr indent="-91440" lvl="0" marL="91440" marR="0" rtl="0" algn="l">
              <a:lnSpc>
                <a:spcPct val="90000"/>
              </a:lnSpc>
              <a:spcBef>
                <a:spcPts val="1200"/>
              </a:spcBef>
              <a:spcAft>
                <a:spcPts val="0"/>
              </a:spcAft>
              <a:buClr>
                <a:schemeClr val="accent1"/>
              </a:buClr>
              <a:buSzPts val="2000"/>
              <a:buFont typeface="Calibri"/>
              <a:buChar char=" "/>
            </a:pPr>
            <a:r>
              <a:rPr b="1" i="0" lang="en-US" sz="2200" u="none" cap="none" strike="noStrike">
                <a:solidFill>
                  <a:srgbClr val="C00000"/>
                </a:solidFill>
                <a:latin typeface="Times New Roman"/>
                <a:ea typeface="Times New Roman"/>
                <a:cs typeface="Times New Roman"/>
                <a:sym typeface="Times New Roman"/>
              </a:rPr>
              <a:t>Prototype: ₹0</a:t>
            </a:r>
          </a:p>
          <a:p>
            <a:pPr indent="-91440" lvl="0" marL="91440" marR="0" rtl="0" algn="l">
              <a:lnSpc>
                <a:spcPct val="90000"/>
              </a:lnSpc>
              <a:spcBef>
                <a:spcPts val="400"/>
              </a:spcBef>
              <a:spcAft>
                <a:spcPts val="0"/>
              </a:spcAft>
              <a:buClr>
                <a:schemeClr val="accent1"/>
              </a:buClr>
              <a:buSzPts val="2000"/>
              <a:buFont typeface="Calibri"/>
              <a:buChar char=" "/>
            </a:pPr>
            <a:r>
              <a:rPr b="0" i="0" lang="en-US" sz="1500" u="none" cap="none" strike="noStrike">
                <a:solidFill>
                  <a:srgbClr val="1F1F1F"/>
                </a:solidFill>
                <a:latin typeface="Times New Roman"/>
                <a:ea typeface="Times New Roman"/>
                <a:cs typeface="Times New Roman"/>
                <a:sym typeface="Times New Roman"/>
              </a:rPr>
              <a:t>Everything runs on free tiers and a normal laptop.</a:t>
            </a:r>
          </a:p>
          <a:p>
            <a:pPr indent="-91440" lvl="0" marL="91440" marR="0" rtl="0" algn="l">
              <a:lnSpc>
                <a:spcPct val="90000"/>
              </a:lnSpc>
              <a:spcBef>
                <a:spcPts val="1600"/>
              </a:spcBef>
              <a:spcAft>
                <a:spcPts val="0"/>
              </a:spcAft>
              <a:buClr>
                <a:schemeClr val="accent1"/>
              </a:buClr>
              <a:buSzPts val="2000"/>
              <a:buFont typeface="Calibri"/>
              <a:buChar char=" "/>
            </a:pPr>
            <a:r>
              <a:rPr b="1" i="0" lang="en-US" sz="1500" u="none" cap="none" strike="noStrike">
                <a:solidFill>
                  <a:srgbClr val="1F1F1F"/>
                </a:solidFill>
                <a:latin typeface="Times New Roman"/>
                <a:ea typeface="Times New Roman"/>
                <a:cs typeface="Times New Roman"/>
                <a:sym typeface="Times New Roman"/>
              </a:rPr>
              <a:t>For a hospital pilot we'd need:</a:t>
            </a:r>
          </a:p>
          <a:p>
            <a:pPr indent="-91440" lvl="0" marL="91440" marR="0" rtl="0" algn="l">
              <a:lnSpc>
                <a:spcPct val="90000"/>
              </a:lnSpc>
              <a:spcBef>
                <a:spcPts val="1000"/>
              </a:spcBef>
              <a:spcAft>
                <a:spcPts val="0"/>
              </a:spcAft>
              <a:buClr>
                <a:schemeClr val="accent1"/>
              </a:buClr>
              <a:buSzPts val="2000"/>
              <a:buFont typeface="Calibri"/>
              <a:buChar char=" "/>
            </a:pPr>
            <a:r>
              <a:rPr b="0" i="0" lang="en-US" sz="1500" u="none" cap="none" strike="noStrike">
                <a:solidFill>
                  <a:srgbClr val="1F1F1F"/>
                </a:solidFill>
                <a:latin typeface="Times New Roman"/>
                <a:ea typeface="Times New Roman"/>
                <a:cs typeface="Times New Roman"/>
                <a:sym typeface="Times New Roman"/>
              </a:rPr>
              <a:t>A small on-site server or VM</a:t>
            </a:r>
          </a:p>
          <a:p>
            <a:pPr indent="-91440" lvl="0" marL="91440" marR="0" rtl="0" algn="l">
              <a:lnSpc>
                <a:spcPct val="90000"/>
              </a:lnSpc>
              <a:spcBef>
                <a:spcPts val="1000"/>
              </a:spcBef>
              <a:spcAft>
                <a:spcPts val="0"/>
              </a:spcAft>
              <a:buClr>
                <a:schemeClr val="accent1"/>
              </a:buClr>
              <a:buSzPts val="2000"/>
              <a:buFont typeface="Calibri"/>
              <a:buChar char=" "/>
            </a:pPr>
            <a:r>
              <a:rPr b="0" i="0" lang="en-US" sz="1500" u="none" cap="none" strike="noStrike">
                <a:solidFill>
                  <a:srgbClr val="1F1F1F"/>
                </a:solidFill>
                <a:latin typeface="Times New Roman"/>
                <a:ea typeface="Times New Roman"/>
                <a:cs typeface="Times New Roman"/>
                <a:sym typeface="Times New Roman"/>
              </a:rPr>
              <a:t>Paid Gemini API usage (charged per request)</a:t>
            </a:r>
          </a:p>
          <a:p>
            <a:pPr indent="-91440" lvl="0" marL="91440" marR="0" rtl="0" algn="l">
              <a:lnSpc>
                <a:spcPct val="90000"/>
              </a:lnSpc>
              <a:spcBef>
                <a:spcPts val="1000"/>
              </a:spcBef>
              <a:spcAft>
                <a:spcPts val="0"/>
              </a:spcAft>
              <a:buClr>
                <a:schemeClr val="accent1"/>
              </a:buClr>
              <a:buSzPts val="2000"/>
              <a:buFont typeface="Calibri"/>
              <a:buChar char=" "/>
            </a:pPr>
            <a:r>
              <a:rPr b="0" i="0" lang="en-US" sz="1500" u="none" cap="none" strike="noStrike">
                <a:solidFill>
                  <a:srgbClr val="1F1F1F"/>
                </a:solidFill>
                <a:latin typeface="Times New Roman"/>
                <a:ea typeface="Times New Roman"/>
                <a:cs typeface="Times New Roman"/>
                <a:sym typeface="Times New Roman"/>
              </a:rPr>
              <a:t>A link to the hospital's billing system (HMS)</a:t>
            </a:r>
          </a:p>
          <a:p>
            <a:pPr indent="-91440" lvl="0" marL="91440" marR="0" rtl="0" algn="l">
              <a:lnSpc>
                <a:spcPct val="90000"/>
              </a:lnSpc>
              <a:spcBef>
                <a:spcPts val="1400"/>
              </a:spcBef>
              <a:spcAft>
                <a:spcPts val="0"/>
              </a:spcAft>
              <a:buClr>
                <a:schemeClr val="accent1"/>
              </a:buClr>
              <a:buSzPts val="2000"/>
              <a:buFont typeface="Calibri"/>
              <a:buChar char=" "/>
            </a:pPr>
            <a:r>
              <a:rPr b="0" i="0" lang="en-US" sz="1200" u="none" cap="none" strike="noStrike">
                <a:solidFill>
                  <a:srgbClr val="708090"/>
                </a:solidFill>
                <a:latin typeface="Times New Roman"/>
                <a:ea typeface="Times New Roman"/>
                <a:cs typeface="Times New Roman"/>
                <a:sym typeface="Times New Roman"/>
              </a:rPr>
              <a:t>Pilot costs to be confirmed with the partner hospital.</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idx="1" type="body"/>
          </p:nvPr>
        </p:nvSpPr>
        <p:spPr>
          <a:xfrm>
            <a:off x="447675" y="992497"/>
            <a:ext cx="8267700" cy="1280160"/>
          </a:xfrm>
          <a:prstGeom prst="rect">
            <a:avLst/>
          </a:prstGeom>
          <a:noFill/>
          <a:ln>
            <a:noFill/>
          </a:ln>
        </p:spPr>
        <p:txBody>
          <a:bodyPr anchorCtr="0" anchor="t" bIns="45700" lIns="0" spcFirstLastPara="1" rIns="0" wrap="square" tIns="45700">
            <a:normAutofit/>
          </a:bodyPr>
          <a:lstStyle/>
          <a:p>
            <a:pPr indent="0" lvl="0" marL="0" rtl="0" algn="l">
              <a:lnSpc>
                <a:spcPct val="150000"/>
              </a:lnSpc>
              <a:spcBef>
                <a:spcPts val="0"/>
              </a:spcBef>
              <a:spcAft>
                <a:spcPts val="0"/>
              </a:spcAft>
              <a:buSzPts val="1800"/>
              <a:buNone/>
            </a:pPr>
            <a:r>
              <a:rPr lang="en-US" sz="1500" b="0">
                <a:solidFill>
                  <a:srgbClr val="1F1F1F"/>
                </a:solidFill>
                <a:latin typeface="Times New Roman"/>
                <a:ea typeface="Times New Roman"/>
                <a:cs typeface="Times New Roman"/>
                <a:sym typeface="Times New Roman"/>
              </a:rPr>
              <a:t>What we deliver: a Telegram chatbot backed by a local AI agent, plus a recovery table admins can act on.</a:t>
            </a:r>
          </a:p>
          <a:p>
            <a:pPr indent="0" lvl="0" marL="0" rtl="0" algn="l">
              <a:lnSpc>
                <a:spcPct val="150000"/>
              </a:lnSpc>
              <a:spcBef>
                <a:spcPts val="800"/>
              </a:spcBef>
              <a:spcAft>
                <a:spcPts val="0"/>
              </a:spcAft>
              <a:buSzPts val="1800"/>
              <a:buNone/>
            </a:pPr>
            <a:r>
              <a:rPr lang="en-US" sz="1500" b="0">
                <a:solidFill>
                  <a:srgbClr val="1F1F1F"/>
                </a:solidFill>
                <a:latin typeface="Times New Roman"/>
                <a:ea typeface="Times New Roman"/>
                <a:cs typeface="Times New Roman"/>
                <a:sym typeface="Times New Roman"/>
              </a:rPr>
              <a:t>We ran the audit on the 25 sample patients in the project:</a:t>
            </a:r>
          </a:p>
        </p:txBody>
      </p:sp>
      <p:sp>
        <p:nvSpPr>
          <p:cNvPr id="169" name="Google Shape;169;p1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70" name="Google Shape;170;p10"/>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8. Deliverable / Expected Outcome</a:t>
            </a:r>
            <a:endParaRPr b="0" i="0" sz="1400" u="none" cap="none" strike="noStrike">
              <a:solidFill>
                <a:srgbClr val="000000"/>
              </a:solidFill>
              <a:latin typeface="Arial"/>
              <a:ea typeface="Arial"/>
              <a:cs typeface="Arial"/>
              <a:sym typeface="Arial"/>
            </a:endParaRPr>
          </a:p>
        </p:txBody>
      </p:sp>
      <p:graphicFrame>
        <p:nvGraphicFramePr>
          <p:cNvPr id="171" name="Chart 170"/>
          <p:cNvGraphicFramePr>
            <a:graphicFrameLocks noGrp="1"/>
          </p:cNvGraphicFramePr>
          <p:nvPr/>
        </p:nvGraphicFramePr>
        <p:xfrm>
          <a:off x="457200" y="2377440"/>
          <a:ext cx="4572000" cy="2651760"/>
        </p:xfrm>
        <a:graphic>
          <a:graphicData uri="http://schemas.openxmlformats.org/drawingml/2006/chart">
            <c:chart r:id="rId3"/>
          </a:graphicData>
        </a:graphic>
      </p:graphicFrame>
      <p:graphicFrame>
        <p:nvGraphicFramePr>
          <p:cNvPr id="172" name="Chart 171"/>
          <p:cNvGraphicFramePr>
            <a:graphicFrameLocks noGrp="1"/>
          </p:cNvGraphicFramePr>
          <p:nvPr/>
        </p:nvGraphicFramePr>
        <p:xfrm>
          <a:off x="5212080" y="2377440"/>
          <a:ext cx="3474720" cy="2651760"/>
        </p:xfrm>
        <a:graphic>
          <a:graphicData uri="http://schemas.openxmlformats.org/drawingml/2006/chart">
            <c:chart r:id="rId4"/>
          </a:graphicData>
        </a:graphic>
      </p:graphicFrame>
      <p:sp>
        <p:nvSpPr>
          <p:cNvPr id="173" name="Rectangle 172"/>
          <p:cNvSpPr/>
          <p:nvPr/>
        </p:nvSpPr>
        <p:spPr>
          <a:xfrm>
            <a:off x="502920" y="5257800"/>
            <a:ext cx="8138160" cy="73152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r>
              <a:rPr sz="1400" b="0" i="0">
                <a:solidFill>
                  <a:srgbClr val="1F1F1F"/>
                </a:solidFill>
                <a:latin typeface="Times New Roman"/>
              </a:rPr>
              <a:t>Every one of the 25 patients had at least one gap. 29 of the 39 were implants or devices, which are the expensive ones.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graphicFrame>
        <p:nvGraphicFramePr>
          <p:cNvPr id="175" name="Google Shape;175;p11"/>
          <p:cNvGraphicFramePr/>
          <p:nvPr/>
        </p:nvGraphicFramePr>
        <p:xfrm>
          <a:off x="338511" y="1411288"/>
          <a:ext cx="3000000" cy="3000000"/>
        </p:xfrm>
        <a:graphic>
          <a:graphicData uri="http://schemas.openxmlformats.org/drawingml/2006/table">
            <a:tbl>
              <a:tblPr bandRow="1" firstRow="1">
                <a:noFill/>
                <a:tableStyleId>{092E7440-6865-424C-AC0A-1A65F648D056}</a:tableStyleId>
              </a:tblPr>
              <a:tblGrid>
                <a:gridCol w="1345150"/>
                <a:gridCol w="1345150"/>
                <a:gridCol w="1345150"/>
                <a:gridCol w="1345150"/>
                <a:gridCol w="1345150"/>
                <a:gridCol w="1345150"/>
              </a:tblGrid>
              <a:tr h="370850">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Role →</a:t>
                      </a:r>
                      <a:endParaRPr sz="1400" u="none" cap="none" strike="noStrike"/>
                    </a:p>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Team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Research &amp; problem</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AI agent &amp; prompt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Data &amp; testing</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Telegram &amp; OpenClaw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Pitch &amp; docs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Member-1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2400"/>
                        <a:buFont typeface="Arial"/>
                        <a:buNone/>
                      </a:pPr>
                      <a:r>
                        <a:rPr lang="en-US" sz="2400" u="none" cap="none" strike="noStrike"/>
                        <a:t/>
                      </a:r>
                      <a:endParaRPr sz="2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lang="en-US" sz="1800" u="none" cap="none" strike="noStrike"/>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Member-2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chemeClr val="dk1"/>
                        </a:buClr>
                        <a:buSzPts val="1800"/>
                        <a:buFont typeface="Calibri"/>
                        <a:buNone/>
                      </a:pPr>
                      <a:r>
                        <a:rPr lang="en-US" sz="1800" u="none" cap="none" strike="noStrike"/>
                        <a:t/>
                      </a:r>
                      <a:endParaRPr b="1"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lang="en-US" sz="1800" u="none" cap="none" strike="noStrike"/>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Member-3</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lang="en-US" sz="1800" u="none" cap="none" strike="noStrike"/>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lang="en-US" sz="1800" u="none" cap="none" strike="noStrike"/>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Member-4</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lang="en-US" sz="1800" u="none" cap="none" strike="noStrike"/>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lang="en-US" sz="1800" u="none" cap="none" strike="noStrike"/>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50000"/>
                        </a:lnSpc>
                        <a:spcBef>
                          <a:spcPts val="0"/>
                        </a:spcBef>
                        <a:spcAft>
                          <a:spcPts val="0"/>
                        </a:spcAft>
                        <a:buClr>
                          <a:srgbClr val="000000"/>
                        </a:buClr>
                        <a:buSzPts val="1800"/>
                        <a:buFont typeface="Arial"/>
                        <a:buNone/>
                      </a:pPr>
                      <a:r>
                        <a:rPr b="1" lang="en-US" sz="1800" u="none" cap="none" strike="noStrike"/>
                        <a:t>Member-5</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lang="en-US" sz="1800" u="none" cap="none" strike="noStrike"/>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000000"/>
                        </a:buClr>
                        <a:buSzPts val="1800"/>
                        <a:buFont typeface="Arial"/>
                        <a:buNone/>
                      </a:pPr>
                      <a:r>
                        <a:rPr lang="en-US" sz="1800" u="none" cap="none" strike="noStrike"/>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76" name="Google Shape;176;p1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77" name="Google Shape;177;p11"/>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9. Team Role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83" name="Google Shape;183;p12"/>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10. Screenshot of the outcome-1</a:t>
            </a:r>
            <a:endParaRPr b="0" i="0" sz="1400" u="none" cap="none" strike="noStrike">
              <a:solidFill>
                <a:srgbClr val="000000"/>
              </a:solidFill>
              <a:latin typeface="Arial"/>
              <a:ea typeface="Arial"/>
              <a:cs typeface="Arial"/>
              <a:sym typeface="Arial"/>
            </a:endParaRPr>
          </a:p>
        </p:txBody>
      </p:sp>
      <p:sp>
        <p:nvSpPr>
          <p:cNvPr id="184" name="Google Shape;184;p12"/>
          <p:cNvSpPr txBox="1"/>
          <p:nvPr>
            <p:ph idx="1" type="body"/>
          </p:nvPr>
        </p:nvSpPr>
        <p:spPr>
          <a:xfrm>
            <a:off x="485775" y="992498"/>
            <a:ext cx="8220075" cy="4572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800"/>
              <a:buNone/>
            </a:pPr>
            <a:r>
              <a:rPr lang="en-US" sz="1500" b="0">
                <a:solidFill>
                  <a:srgbClr val="1F1F1F"/>
                </a:solidFill>
                <a:latin typeface="Times New Roman"/>
                <a:ea typeface="Times New Roman"/>
                <a:cs typeface="Times New Roman"/>
                <a:sym typeface="Times New Roman"/>
              </a:rPr>
              <a:t>The agent answering on Telegram, running through OpenClaw.</a:t>
            </a:r>
          </a:p>
        </p:txBody>
      </p:sp>
      <p:pic>
        <p:nvPicPr>
          <p:cNvPr id="185" name="Picture 184" descr="Screenshot_20260308-021628.png"/>
          <p:cNvPicPr>
            <a:picLocks noChangeAspect="1"/>
          </p:cNvPicPr>
          <p:nvPr/>
        </p:nvPicPr>
        <p:blipFill>
          <a:blip r:embed="rId3"/>
          <a:stretch>
            <a:fillRect/>
          </a:stretch>
        </p:blipFill>
        <p:spPr>
          <a:xfrm>
            <a:off x="1417320" y="1554480"/>
            <a:ext cx="1831086" cy="4069080"/>
          </a:xfrm>
          <a:prstGeom prst="rect">
            <a:avLst/>
          </a:prstGeom>
          <a:ln>
            <a:solidFill>
              <a:srgbClr val="D3D3D3"/>
            </a:solidFill>
          </a:ln>
        </p:spPr>
      </p:pic>
      <p:sp>
        <p:nvSpPr>
          <p:cNvPr id="186" name="Rectangle 185"/>
          <p:cNvSpPr/>
          <p:nvPr/>
        </p:nvSpPr>
        <p:spPr>
          <a:xfrm>
            <a:off x="960120" y="5669280"/>
            <a:ext cx="2745486"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0" i="0">
                <a:solidFill>
                  <a:srgbClr val="36454F"/>
                </a:solidFill>
                <a:latin typeface="Arial"/>
              </a:rPr>
              <a:t>“Audit this” returns a summary and the top 5 cases</a:t>
            </a:r>
          </a:p>
        </p:txBody>
      </p:sp>
      <p:pic>
        <p:nvPicPr>
          <p:cNvPr id="187" name="Picture 186" descr="Screenshot_20260308-021745.png"/>
          <p:cNvPicPr>
            <a:picLocks noChangeAspect="1"/>
          </p:cNvPicPr>
          <p:nvPr/>
        </p:nvPicPr>
        <p:blipFill>
          <a:blip r:embed="rId4"/>
          <a:stretch>
            <a:fillRect/>
          </a:stretch>
        </p:blipFill>
        <p:spPr>
          <a:xfrm>
            <a:off x="4800600" y="1554480"/>
            <a:ext cx="1831086" cy="4069080"/>
          </a:xfrm>
          <a:prstGeom prst="rect">
            <a:avLst/>
          </a:prstGeom>
          <a:ln>
            <a:solidFill>
              <a:srgbClr val="D3D3D3"/>
            </a:solidFill>
          </a:ln>
        </p:spPr>
      </p:pic>
      <p:sp>
        <p:nvSpPr>
          <p:cNvPr id="188" name="Rectangle 187"/>
          <p:cNvSpPr/>
          <p:nvPr/>
        </p:nvSpPr>
        <p:spPr>
          <a:xfrm>
            <a:off x="4343400" y="5669280"/>
            <a:ext cx="2745486"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0" i="0">
                <a:solidFill>
                  <a:srgbClr val="36454F"/>
                </a:solidFill>
                <a:latin typeface="Arial"/>
              </a:rPr>
              <a:t>“Top 3 bills and how to recover” adds next steps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90" name="Google Shape;190;p13"/>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11. Screenshot of the outcome-2</a:t>
            </a:r>
            <a:endParaRPr b="0" i="0" sz="1400" u="none" cap="none" strike="noStrike">
              <a:solidFill>
                <a:srgbClr val="000000"/>
              </a:solidFill>
              <a:latin typeface="Arial"/>
              <a:ea typeface="Arial"/>
              <a:cs typeface="Arial"/>
              <a:sym typeface="Arial"/>
            </a:endParaRPr>
          </a:p>
        </p:txBody>
      </p:sp>
      <p:sp>
        <p:nvSpPr>
          <p:cNvPr id="191" name="Google Shape;191;p13"/>
          <p:cNvSpPr txBox="1"/>
          <p:nvPr>
            <p:ph idx="1" type="body"/>
          </p:nvPr>
        </p:nvSpPr>
        <p:spPr>
          <a:xfrm>
            <a:off x="485775" y="992498"/>
            <a:ext cx="8220075" cy="4572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800"/>
              <a:buNone/>
            </a:pPr>
            <a:r>
              <a:rPr lang="en-US" sz="1500" b="0">
                <a:solidFill>
                  <a:srgbClr val="1F1F1F"/>
                </a:solidFill>
                <a:latin typeface="Times New Roman"/>
                <a:ea typeface="Times New Roman"/>
                <a:cs typeface="Times New Roman"/>
                <a:sym typeface="Times New Roman"/>
              </a:rPr>
              <a:t>We also ran the same audit on our laptop, offline, with no API key.</a:t>
            </a:r>
          </a:p>
        </p:txBody>
      </p:sp>
      <p:pic>
        <p:nvPicPr>
          <p:cNvPr id="192" name="Picture 191" descr="local_run.png"/>
          <p:cNvPicPr>
            <a:picLocks noChangeAspect="1"/>
          </p:cNvPicPr>
          <p:nvPr/>
        </p:nvPicPr>
        <p:blipFill>
          <a:blip r:embed="rId3"/>
          <a:stretch>
            <a:fillRect/>
          </a:stretch>
        </p:blipFill>
        <p:spPr>
          <a:xfrm>
            <a:off x="1305549" y="1554480"/>
            <a:ext cx="6532902" cy="4160520"/>
          </a:xfrm>
          <a:prstGeom prst="rect">
            <a:avLst/>
          </a:prstGeom>
        </p:spPr>
      </p:pic>
      <p:sp>
        <p:nvSpPr>
          <p:cNvPr id="193" name="Rectangle 192"/>
          <p:cNvSpPr/>
          <p:nvPr/>
        </p:nvSpPr>
        <p:spPr>
          <a:xfrm>
            <a:off x="502920" y="5806440"/>
            <a:ext cx="81381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200" b="0" i="0">
                <a:solidFill>
                  <a:srgbClr val="36454F"/>
                </a:solidFill>
                <a:latin typeface="Arial"/>
              </a:rPr>
              <a:t>Rows in red are items that were never billed at all.</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97" name="Google Shape;197;p14"/>
          <p:cNvSpPr txBox="1"/>
          <p:nvPr/>
        </p:nvSpPr>
        <p:spPr>
          <a:xfrm>
            <a:off x="80010" y="116910"/>
            <a:ext cx="9063990" cy="702302"/>
          </a:xfrm>
          <a:prstGeom prst="rect">
            <a:avLst/>
          </a:prstGeom>
          <a:noFill/>
          <a:ln>
            <a:noFill/>
          </a:ln>
        </p:spPr>
        <p:txBody>
          <a:bodyPr anchorCtr="0" anchor="t" bIns="45700" lIns="91425" spcFirstLastPara="1" rIns="91425" wrap="square" tIns="45700">
            <a:normAutofit/>
          </a:bodyPr>
          <a:lstStyle/>
          <a:p>
            <a:pPr indent="0" lvl="0" marL="0" marR="0" rtl="0" algn="l">
              <a:lnSpc>
                <a:spcPct val="85000"/>
              </a:lnSpc>
              <a:spcBef>
                <a:spcPts val="0"/>
              </a:spcBef>
              <a:spcAft>
                <a:spcPts val="0"/>
              </a:spcAft>
              <a:buClr>
                <a:schemeClr val="lt1"/>
              </a:buClr>
              <a:buSzPts val="4000"/>
              <a:buFont typeface="Times New Roman"/>
              <a:buNone/>
            </a:pPr>
            <a:r>
              <a:rPr b="1" i="0" lang="en-US" sz="4000" u="none" cap="none" strike="noStrike">
                <a:solidFill>
                  <a:schemeClr val="lt1"/>
                </a:solidFill>
                <a:latin typeface="Times New Roman"/>
                <a:ea typeface="Times New Roman"/>
                <a:cs typeface="Times New Roman"/>
                <a:sym typeface="Times New Roman"/>
              </a:rPr>
              <a:t>12. References</a:t>
            </a:r>
            <a:endParaRPr b="0" i="0" sz="1400" u="none" cap="none" strike="noStrike">
              <a:solidFill>
                <a:srgbClr val="000000"/>
              </a:solidFill>
              <a:latin typeface="Arial"/>
              <a:ea typeface="Arial"/>
              <a:cs typeface="Arial"/>
              <a:sym typeface="Arial"/>
            </a:endParaRPr>
          </a:p>
        </p:txBody>
      </p:sp>
      <p:sp>
        <p:nvSpPr>
          <p:cNvPr id="198" name="Google Shape;198;p14"/>
          <p:cNvSpPr txBox="1"/>
          <p:nvPr>
            <p:ph idx="1" type="body"/>
          </p:nvPr>
        </p:nvSpPr>
        <p:spPr>
          <a:xfrm>
            <a:off x="485775" y="992498"/>
            <a:ext cx="8220075" cy="5313052"/>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800"/>
              <a:buNone/>
            </a:pPr>
            <a:r>
              <a:rPr lang="en-US" sz="1500" b="0">
                <a:solidFill>
                  <a:srgbClr val="1F1F1F"/>
                </a:solidFill>
                <a:latin typeface="Times New Roman"/>
                <a:ea typeface="Times New Roman"/>
                <a:cs typeface="Times New Roman"/>
                <a:sym typeface="Times New Roman"/>
              </a:rPr>
              <a:t>1.  Doctor Nexus HMS, GitHub repository. github.com/srikanth-hn/Doctor-Nexus-HMS</a:t>
            </a:r>
          </a:p>
          <a:p>
            <a:pPr indent="0" lvl="0" marL="0" rtl="0" algn="l">
              <a:lnSpc>
                <a:spcPct val="90000"/>
              </a:lnSpc>
              <a:spcBef>
                <a:spcPts val="1000"/>
              </a:spcBef>
              <a:spcAft>
                <a:spcPts val="0"/>
              </a:spcAft>
              <a:buSzPts val="1800"/>
              <a:buNone/>
            </a:pPr>
            <a:r>
              <a:rPr lang="en-US" sz="1500" b="0">
                <a:solidFill>
                  <a:srgbClr val="1F1F1F"/>
                </a:solidFill>
                <a:latin typeface="Times New Roman"/>
                <a:ea typeface="Times New Roman"/>
                <a:cs typeface="Times New Roman"/>
                <a:sym typeface="Times New Roman"/>
              </a:rPr>
              <a:t>2.  JTS Health Partners, “How Much Is Your Hospital Losing Through a Poor Charge Capture Process?” (cites HFMA: 1–5% of net revenue). jtshealthpartners.com/blog</a:t>
            </a:r>
          </a:p>
          <a:p>
            <a:pPr indent="0" lvl="0" marL="0" rtl="0" algn="l">
              <a:lnSpc>
                <a:spcPct val="90000"/>
              </a:lnSpc>
              <a:spcBef>
                <a:spcPts val="1000"/>
              </a:spcBef>
              <a:spcAft>
                <a:spcPts val="0"/>
              </a:spcAft>
              <a:buSzPts val="1800"/>
              <a:buNone/>
            </a:pPr>
            <a:r>
              <a:rPr lang="en-US" sz="1500" b="0">
                <a:solidFill>
                  <a:srgbClr val="1F1F1F"/>
                </a:solidFill>
                <a:latin typeface="Times New Roman"/>
                <a:ea typeface="Times New Roman"/>
                <a:cs typeface="Times New Roman"/>
                <a:sym typeface="Times New Roman"/>
              </a:rPr>
              <a:t>3.  Commure, “Charge Capture in Healthcare: What It Is, Why Revenue Leaks, and How AI Fixes It” (cites HFMA, Novant Health case). commure.com/blog</a:t>
            </a:r>
          </a:p>
          <a:p>
            <a:pPr indent="0" lvl="0" marL="0" rtl="0" algn="l">
              <a:lnSpc>
                <a:spcPct val="90000"/>
              </a:lnSpc>
              <a:spcBef>
                <a:spcPts val="1000"/>
              </a:spcBef>
              <a:spcAft>
                <a:spcPts val="0"/>
              </a:spcAft>
              <a:buSzPts val="1800"/>
              <a:buNone/>
            </a:pPr>
            <a:r>
              <a:rPr lang="en-US" sz="1500" b="0">
                <a:solidFill>
                  <a:srgbClr val="1F1F1F"/>
                </a:solidFill>
                <a:latin typeface="Times New Roman"/>
                <a:ea typeface="Times New Roman"/>
                <a:cs typeface="Times New Roman"/>
                <a:sym typeface="Times New Roman"/>
              </a:rPr>
              <a:t>4.  OpenClaw documentation. docs.openclaw.ai</a:t>
            </a:r>
          </a:p>
          <a:p>
            <a:pPr indent="0" lvl="0" marL="0" rtl="0" algn="l">
              <a:lnSpc>
                <a:spcPct val="90000"/>
              </a:lnSpc>
              <a:spcBef>
                <a:spcPts val="1000"/>
              </a:spcBef>
              <a:spcAft>
                <a:spcPts val="0"/>
              </a:spcAft>
              <a:buSzPts val="1800"/>
              <a:buNone/>
            </a:pPr>
            <a:r>
              <a:rPr lang="en-US" sz="1500" b="0">
                <a:solidFill>
                  <a:srgbClr val="1F1F1F"/>
                </a:solidFill>
                <a:latin typeface="Times New Roman"/>
                <a:ea typeface="Times New Roman"/>
                <a:cs typeface="Times New Roman"/>
                <a:sym typeface="Times New Roman"/>
              </a:rPr>
              <a:t>5.  Google, Gemini API documentation. ai.google.dev/gemini-api/docs</a:t>
            </a:r>
          </a:p>
          <a:p>
            <a:pPr indent="0" lvl="0" marL="0" rtl="0" algn="l">
              <a:lnSpc>
                <a:spcPct val="90000"/>
              </a:lnSpc>
              <a:spcBef>
                <a:spcPts val="1000"/>
              </a:spcBef>
              <a:spcAft>
                <a:spcPts val="0"/>
              </a:spcAft>
              <a:buSzPts val="1800"/>
              <a:buNone/>
            </a:pPr>
            <a:r>
              <a:rPr lang="en-US" sz="1500" b="0">
                <a:solidFill>
                  <a:srgbClr val="1F1F1F"/>
                </a:solidFill>
                <a:latin typeface="Times New Roman"/>
                <a:ea typeface="Times New Roman"/>
                <a:cs typeface="Times New Roman"/>
                <a:sym typeface="Times New Roman"/>
              </a:rPr>
              <a:t>6.  Telegram, Bot API documentation. core.telegram.org/bots/api</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idx="1" type="body"/>
          </p:nvPr>
        </p:nvSpPr>
        <p:spPr>
          <a:xfrm>
            <a:off x="800099" y="2392673"/>
            <a:ext cx="7543801" cy="702302"/>
          </a:xfrm>
          <a:prstGeom prst="rect">
            <a:avLst/>
          </a:prstGeom>
          <a:noFill/>
          <a:ln>
            <a:noFill/>
          </a:ln>
        </p:spPr>
        <p:txBody>
          <a:bodyPr anchorCtr="0" anchor="t" bIns="45700" lIns="0" spcFirstLastPara="1" rIns="0" wrap="square" tIns="45700">
            <a:normAutofit fontScale="92500" lnSpcReduction="10000"/>
          </a:bodyPr>
          <a:lstStyle/>
          <a:p>
            <a:pPr indent="-317183" lvl="0" marL="91440" rtl="0" algn="ctr">
              <a:lnSpc>
                <a:spcPct val="90000"/>
              </a:lnSpc>
              <a:spcBef>
                <a:spcPts val="0"/>
              </a:spcBef>
              <a:spcAft>
                <a:spcPts val="0"/>
              </a:spcAft>
              <a:buSzPct val="100000"/>
              <a:buChar char=" "/>
            </a:pPr>
            <a:r>
              <a:rPr b="1" lang="en-US" sz="5400">
                <a:solidFill>
                  <a:schemeClr val="dk1"/>
                </a:solidFill>
                <a:latin typeface="Times New Roman"/>
                <a:ea typeface="Times New Roman"/>
                <a:cs typeface="Times New Roman"/>
                <a:sym typeface="Times New Roman"/>
              </a:rPr>
              <a:t>Thank You</a:t>
            </a:r>
            <a:endParaRPr b="1" sz="5400">
              <a:solidFill>
                <a:schemeClr val="dk1"/>
              </a:solidFill>
              <a:latin typeface="Times New Roman"/>
              <a:ea typeface="Times New Roman"/>
              <a:cs typeface="Times New Roman"/>
              <a:sym typeface="Times New Roman"/>
            </a:endParaRPr>
          </a:p>
        </p:txBody>
      </p:sp>
      <p:sp>
        <p:nvSpPr>
          <p:cNvPr id="204" name="Google Shape;204;p1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05" name="Rectangle 204"/>
          <p:cNvSpPr/>
          <p:nvPr/>
        </p:nvSpPr>
        <p:spPr>
          <a:xfrm>
            <a:off x="795528" y="3246120"/>
            <a:ext cx="7543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400" b="0" i="0">
                <a:solidFill>
                  <a:srgbClr val="708090"/>
                </a:solidFill>
                <a:latin typeface="Times New Roman"/>
              </a:rPr>
              <a:t>Questions?  github.com/srikanth-hn/Doctor-Nexus-HMS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