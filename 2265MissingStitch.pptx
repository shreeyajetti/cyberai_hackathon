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115D6A-BC97-44DE-8B98-852752F74964}">
  <a:tblStyle styleId="{A2115D6A-BC97-44DE-8B98-852752F7496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8299750-554B-4E24-A22A-CA62B9B307B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AECE6"/>
          </a:solidFill>
        </a:fill>
      </a:tcStyle>
    </a:wholeTbl>
    <a:band1H>
      <a:tcTxStyle/>
      <a:tcStyle>
        <a:fill>
          <a:solidFill>
            <a:srgbClr val="F5D8CA"/>
          </a:solidFill>
        </a:fill>
      </a:tcStyle>
    </a:band1H>
    <a:band2H>
      <a:tcTxStyle/>
    </a:band2H>
    <a:band1V>
      <a:tcTxStyle/>
      <a:tcStyle>
        <a:fill>
          <a:solidFill>
            <a:srgbClr val="F5D8C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E9A6267B-DE77-46F4-B8C2-B5189548668E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28d3b3619da4c3b5_3_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8" name="Google Shape;138;h28d3b3619da4c3b5_3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28d3b3619da4c3b5_3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h28d3b3619da4c3b5_3_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8" name="Google Shape;148;h28d3b3619da4c3b5_3_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28d3b3619da4c3b5_3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h28d3b3619da4c3b5_3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8" name="Google Shape;158;h28d3b3619da4c3b5_3_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28d3b3619da4c3b5_3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h28d3b3619da4c3b5_3_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3" name="Google Shape;173;h28d3b3619da4c3b5_3_1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28d3b3619da4c3b5_3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h28d3b3619da4c3b5_3_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9" name="Google Shape;189;h28d3b3619da4c3b5_3_1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28d3b3619da4c3b5_3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h28d3b3619da4c3b5_3_1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9" name="Google Shape;209;h28d3b3619da4c3b5_3_1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28d3b3619da4c3b5_3_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7" name="Google Shape;217;h28d3b3619da4c3b5_3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28d3b3619da4c3b5_3_1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4" name="Google Shape;224;h28d3b3619da4c3b5_3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28d3b3619da4c3b5_3_1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2" name="Google Shape;232;h28d3b3619da4c3b5_3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28d3b3619da4c3b5_3_2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2" name="Google Shape;242;h28d3b3619da4c3b5_3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28d3b3619da4c3b5_3_2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9" name="Google Shape;249;h28d3b3619da4c3b5_3_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28d3b3619da4c3b5_3_2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6" name="Google Shape;256;h28d3b3619da4c3b5_3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28d3b3619da4c3b5_3_2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3" name="Google Shape;263;h28d3b3619da4c3b5_3_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28d3b3619da4c3b5_3_2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h28d3b3619da4c3b5_3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>
            <p:ph type="ctrTitle"/>
          </p:nvPr>
        </p:nvSpPr>
        <p:spPr>
          <a:xfrm>
            <a:off x="822960" y="569214"/>
            <a:ext cx="754380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1" i="0" sz="8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825038" y="3341716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4" name="Google Shape;64;p14"/>
          <p:cNvSpPr txBox="1"/>
          <p:nvPr>
            <p:ph idx="10" type="dt"/>
          </p:nvPr>
        </p:nvSpPr>
        <p:spPr>
          <a:xfrm>
            <a:off x="822961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1" type="ftr"/>
          </p:nvPr>
        </p:nvSpPr>
        <p:spPr>
          <a:xfrm>
            <a:off x="2764639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822959" y="744374"/>
            <a:ext cx="7543801" cy="3657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822961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2764639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822960" y="569214"/>
            <a:ext cx="754380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i="0" sz="8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822960" y="3339846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22961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2764639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0" name="Google Shape;80;p16"/>
          <p:cNvCxnSpPr/>
          <p:nvPr/>
        </p:nvCxnSpPr>
        <p:spPr>
          <a:xfrm>
            <a:off x="905744" y="325755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822960" y="1384301"/>
            <a:ext cx="37033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663440" y="1384302"/>
            <a:ext cx="3703320" cy="3017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0" type="dt"/>
          </p:nvPr>
        </p:nvSpPr>
        <p:spPr>
          <a:xfrm>
            <a:off x="822961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2764639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822960" y="1384539"/>
            <a:ext cx="3703320" cy="552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89" name="Google Shape;89;p18"/>
          <p:cNvSpPr txBox="1"/>
          <p:nvPr>
            <p:ph idx="2" type="body"/>
          </p:nvPr>
        </p:nvSpPr>
        <p:spPr>
          <a:xfrm>
            <a:off x="822960" y="1936751"/>
            <a:ext cx="3703320" cy="2465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3" type="body"/>
          </p:nvPr>
        </p:nvSpPr>
        <p:spPr>
          <a:xfrm>
            <a:off x="4663440" y="1384539"/>
            <a:ext cx="3703320" cy="552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91" name="Google Shape;91;p18"/>
          <p:cNvSpPr txBox="1"/>
          <p:nvPr>
            <p:ph idx="4" type="body"/>
          </p:nvPr>
        </p:nvSpPr>
        <p:spPr>
          <a:xfrm>
            <a:off x="4663440" y="1936751"/>
            <a:ext cx="3703320" cy="2465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822961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2764639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0" type="dt"/>
          </p:nvPr>
        </p:nvSpPr>
        <p:spPr>
          <a:xfrm>
            <a:off x="822961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1" type="ftr"/>
          </p:nvPr>
        </p:nvSpPr>
        <p:spPr>
          <a:xfrm>
            <a:off x="2764639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0"/>
          <p:cNvSpPr txBox="1"/>
          <p:nvPr>
            <p:ph idx="10" type="dt"/>
          </p:nvPr>
        </p:nvSpPr>
        <p:spPr>
          <a:xfrm>
            <a:off x="822961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1" type="ftr"/>
          </p:nvPr>
        </p:nvSpPr>
        <p:spPr>
          <a:xfrm>
            <a:off x="2764639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342900" y="445769"/>
            <a:ext cx="2400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460237" y="548640"/>
            <a:ext cx="5009393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2" type="body"/>
          </p:nvPr>
        </p:nvSpPr>
        <p:spPr>
          <a:xfrm>
            <a:off x="342900" y="2194560"/>
            <a:ext cx="2400300" cy="2534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1" name="Google Shape;111;p21"/>
          <p:cNvSpPr txBox="1"/>
          <p:nvPr>
            <p:ph idx="10" type="dt"/>
          </p:nvPr>
        </p:nvSpPr>
        <p:spPr>
          <a:xfrm>
            <a:off x="349134" y="4844840"/>
            <a:ext cx="19638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1" type="ftr"/>
          </p:nvPr>
        </p:nvSpPr>
        <p:spPr>
          <a:xfrm>
            <a:off x="3600450" y="4844840"/>
            <a:ext cx="3486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2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2"/>
          <p:cNvSpPr txBox="1"/>
          <p:nvPr>
            <p:ph type="title"/>
          </p:nvPr>
        </p:nvSpPr>
        <p:spPr>
          <a:xfrm>
            <a:off x="822960" y="3806190"/>
            <a:ext cx="7589520" cy="6172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i="0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22"/>
          <p:cNvSpPr/>
          <p:nvPr>
            <p:ph idx="2" type="pic"/>
          </p:nvPr>
        </p:nvSpPr>
        <p:spPr>
          <a:xfrm>
            <a:off x="12" y="0"/>
            <a:ext cx="9143989" cy="368630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822959" y="4430268"/>
            <a:ext cx="75895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0" name="Google Shape;120;p22"/>
          <p:cNvSpPr txBox="1"/>
          <p:nvPr>
            <p:ph idx="10" type="dt"/>
          </p:nvPr>
        </p:nvSpPr>
        <p:spPr>
          <a:xfrm>
            <a:off x="822961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1" type="ftr"/>
          </p:nvPr>
        </p:nvSpPr>
        <p:spPr>
          <a:xfrm>
            <a:off x="2764639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idx="1" type="body"/>
          </p:nvPr>
        </p:nvSpPr>
        <p:spPr>
          <a:xfrm rot="5400000">
            <a:off x="2766136" y="-1198803"/>
            <a:ext cx="3657447" cy="7543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0" type="dt"/>
          </p:nvPr>
        </p:nvSpPr>
        <p:spPr>
          <a:xfrm>
            <a:off x="822961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1" type="ftr"/>
          </p:nvPr>
        </p:nvSpPr>
        <p:spPr>
          <a:xfrm>
            <a:off x="2764639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4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 rot="5400000">
            <a:off x="5370480" y="1484280"/>
            <a:ext cx="4318066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 rot="5400000">
            <a:off x="1369980" y="-430246"/>
            <a:ext cx="431806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0" type="dt"/>
          </p:nvPr>
        </p:nvSpPr>
        <p:spPr>
          <a:xfrm>
            <a:off x="822961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1" type="ftr"/>
          </p:nvPr>
        </p:nvSpPr>
        <p:spPr>
          <a:xfrm>
            <a:off x="2764639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4800600"/>
            <a:ext cx="9144001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0" y="4750736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822959" y="744374"/>
            <a:ext cx="7543801" cy="3657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822961" y="4844840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2764639" y="4844840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57" name="Google Shape;57;p13"/>
          <p:cNvCxnSpPr/>
          <p:nvPr/>
        </p:nvCxnSpPr>
        <p:spPr>
          <a:xfrm>
            <a:off x="0" y="679450"/>
            <a:ext cx="9144001" cy="2068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3"/>
          <p:cNvSpPr/>
          <p:nvPr/>
        </p:nvSpPr>
        <p:spPr>
          <a:xfrm>
            <a:off x="1" y="0"/>
            <a:ext cx="9144000" cy="672353"/>
          </a:xfrm>
          <a:prstGeom prst="rect">
            <a:avLst/>
          </a:prstGeom>
          <a:solidFill>
            <a:srgbClr val="C00000"/>
          </a:solidFill>
          <a:ln cap="flat" cmpd="sng" w="15875">
            <a:solidFill>
              <a:srgbClr val="6037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nitishgb52@gmail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ctrTitle"/>
          </p:nvPr>
        </p:nvSpPr>
        <p:spPr>
          <a:xfrm>
            <a:off x="972450" y="268224"/>
            <a:ext cx="71991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Cyber AI Hackathon 2026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Organized by University of Derby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1" name="Google Shape;141;p25"/>
          <p:cNvCxnSpPr/>
          <p:nvPr/>
        </p:nvCxnSpPr>
        <p:spPr>
          <a:xfrm>
            <a:off x="0" y="928367"/>
            <a:ext cx="9144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42" name="Google Shape;142;p25"/>
          <p:cNvGraphicFramePr/>
          <p:nvPr/>
        </p:nvGraphicFramePr>
        <p:xfrm>
          <a:off x="306191" y="17660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{A2115D6A-BC97-44DE-8B98-852752F74964}</a:tableStyleId>
              </a:tblPr>
              <a:tblGrid>
                <a:gridCol w="1730425"/>
                <a:gridCol w="278950"/>
                <a:gridCol w="6527575"/>
              </a:tblGrid>
              <a:tr h="35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Team Number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2265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</a:tr>
              <a:tr h="35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Team Name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b="1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Missing Stitch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</a:tr>
              <a:tr h="37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Problem Theme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AI in Healthcare &amp; Life Sciences, F</a:t>
                      </a:r>
                      <a:r>
                        <a:rPr lang="en-GB" sz="1050">
                          <a:highlight>
                            <a:srgbClr val="F9FAFB"/>
                          </a:highlight>
                          <a:latin typeface="Arial"/>
                          <a:ea typeface="Arial"/>
                          <a:cs typeface="Arial"/>
                          <a:sym typeface="Arial"/>
                        </a:rPr>
                        <a:t>inance, Retail &amp; Business </a:t>
                      </a:r>
                      <a:r>
                        <a:rPr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(AI and its applied domain)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</a:tr>
              <a:tr h="40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Institute Name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Indian Institute of Information Technology, Sri City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</a:tr>
              <a:tr h="34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Team Members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Nitish Gorontala Badrinarayanan, Shreeya Sai Jetti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</a:tr>
              <a:tr h="33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Contact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Mail - </a:t>
                      </a:r>
                      <a:r>
                        <a:rPr lang="en-GB" sz="1100" u="sng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3"/>
                        </a:rPr>
                        <a:t>nitishgb52@gmail.com</a:t>
                      </a:r>
                      <a:r>
                        <a:rPr lang="en-GB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 , Phone - +91 81978 43216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 anchor="ctr"/>
                </a:tc>
              </a:tr>
            </a:tbl>
          </a:graphicData>
        </a:graphic>
      </p:graphicFrame>
      <p:sp>
        <p:nvSpPr>
          <p:cNvPr id="143" name="Google Shape;143;p25"/>
          <p:cNvSpPr txBox="1"/>
          <p:nvPr/>
        </p:nvSpPr>
        <p:spPr>
          <a:xfrm>
            <a:off x="3339733" y="4277828"/>
            <a:ext cx="246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October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548640" y="1082164"/>
            <a:ext cx="8046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GB" sz="2100">
                <a:solidFill>
                  <a:schemeClr val="dk1"/>
                </a:solidFill>
              </a:rPr>
              <a:t>Missing Stitch </a:t>
            </a:r>
            <a:r>
              <a:rPr b="1" i="0" lang="en-GB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An AI Auditor for Missed Surgical Bills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80010" y="87682"/>
            <a:ext cx="9063990" cy="526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GB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Background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476250" y="744374"/>
            <a:ext cx="4754880" cy="3970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Tertiary care hospitals in India lose 1-5% of their surgical revenue due to manual billing omissions. 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High-value consumables like implants, stents, and specialized medications are often used in the OT but fail to be documented in the final bill due to chaotic manual workflows. 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Stitch is an Agentic AI Auditor compares surgery notes with hospital bills to catch missing charges. 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b="1" lang="en-GB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this is for</a:t>
            </a:r>
            <a:endParaRPr b="1"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b="0" lang="en-GB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Billing teams, hospital admins and finance heads in large (tertiary care) hospitals.</a:t>
            </a:r>
            <a:endParaRPr/>
          </a:p>
        </p:txBody>
      </p:sp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3" name="Google Shape;153;p26"/>
          <p:cNvSpPr/>
          <p:nvPr/>
        </p:nvSpPr>
        <p:spPr>
          <a:xfrm>
            <a:off x="5623560" y="857250"/>
            <a:ext cx="3063240" cy="168021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1–5%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6454F"/>
                </a:solidFill>
                <a:latin typeface="Arial"/>
                <a:ea typeface="Arial"/>
                <a:cs typeface="Arial"/>
                <a:sym typeface="Arial"/>
              </a:rPr>
              <a:t>of a hospital's net revenue is lost to charges that never get captured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n-GB" sz="1000" u="none" cap="none" strike="noStrike">
                <a:solidFill>
                  <a:srgbClr val="708090"/>
                </a:solidFill>
                <a:latin typeface="Arial"/>
                <a:ea typeface="Arial"/>
                <a:cs typeface="Arial"/>
                <a:sym typeface="Arial"/>
              </a:rPr>
              <a:t>HFMA estimate</a:t>
            </a:r>
            <a:endParaRPr/>
          </a:p>
        </p:txBody>
      </p:sp>
      <p:sp>
        <p:nvSpPr>
          <p:cNvPr id="154" name="Google Shape;154;p26"/>
          <p:cNvSpPr/>
          <p:nvPr/>
        </p:nvSpPr>
        <p:spPr>
          <a:xfrm>
            <a:off x="5623560" y="2708910"/>
            <a:ext cx="3063240" cy="168021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400" u="none" cap="none" strike="noStrike">
                <a:solidFill>
                  <a:srgbClr val="36454F"/>
                </a:solidFill>
                <a:latin typeface="Arial"/>
                <a:ea typeface="Arial"/>
                <a:cs typeface="Arial"/>
                <a:sym typeface="Arial"/>
              </a:rPr>
              <a:t>$7.5M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6454F"/>
                </a:solidFill>
                <a:latin typeface="Arial"/>
                <a:ea typeface="Arial"/>
                <a:cs typeface="Arial"/>
                <a:sym typeface="Arial"/>
              </a:rPr>
              <a:t>recovered in 15 months by one 14-hospital system after fixing its charge capture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1" lang="en-GB" sz="1000" u="none" cap="none" strike="noStrike">
                <a:solidFill>
                  <a:srgbClr val="708090"/>
                </a:solidFill>
                <a:latin typeface="Arial"/>
                <a:ea typeface="Arial"/>
                <a:cs typeface="Arial"/>
                <a:sym typeface="Arial"/>
              </a:rPr>
              <a:t>Novant Health, reported by HFMA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476251" y="744373"/>
            <a:ext cx="8220074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notes recorded during the surgery is generally not matched with the final billing</a:t>
            </a:r>
            <a:r>
              <a:rPr b="0" lang="en-GB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Here's a real record from our test data:</a:t>
            </a:r>
            <a:endParaRPr/>
          </a:p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27"/>
          <p:cNvSpPr txBox="1"/>
          <p:nvPr/>
        </p:nvSpPr>
        <p:spPr>
          <a:xfrm>
            <a:off x="80010" y="87682"/>
            <a:ext cx="9063990" cy="526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GB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502920" y="1440180"/>
            <a:ext cx="3657600" cy="30861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the OT note says</a:t>
            </a:r>
            <a:endParaRPr/>
          </a:p>
        </p:txBody>
      </p:sp>
      <p:sp>
        <p:nvSpPr>
          <p:cNvPr id="164" name="Google Shape;164;p27"/>
          <p:cNvSpPr/>
          <p:nvPr/>
        </p:nvSpPr>
        <p:spPr>
          <a:xfrm>
            <a:off x="502920" y="1748790"/>
            <a:ext cx="3657600" cy="120015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164575" lIns="164575" spcFirstLastPara="1" rIns="164575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708090"/>
                </a:solidFill>
                <a:latin typeface="Arial"/>
                <a:ea typeface="Arial"/>
                <a:cs typeface="Arial"/>
                <a:sym typeface="Arial"/>
              </a:rPr>
              <a:t>Patient P-002 · Cardiac stenting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1" lang="en-GB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“2x Onyx Stents (3.5mm) deployed in LAD. 1x Emerge Balloon used for pre-dilation.”</a:t>
            </a:r>
            <a:endParaRPr/>
          </a:p>
        </p:txBody>
      </p:sp>
      <p:sp>
        <p:nvSpPr>
          <p:cNvPr id="165" name="Google Shape;165;p27"/>
          <p:cNvSpPr/>
          <p:nvPr/>
        </p:nvSpPr>
        <p:spPr>
          <a:xfrm>
            <a:off x="4983480" y="1440180"/>
            <a:ext cx="3657600" cy="30861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the bill says</a:t>
            </a:r>
            <a:endParaRPr/>
          </a:p>
        </p:txBody>
      </p:sp>
      <p:sp>
        <p:nvSpPr>
          <p:cNvPr id="166" name="Google Shape;166;p27"/>
          <p:cNvSpPr/>
          <p:nvPr/>
        </p:nvSpPr>
        <p:spPr>
          <a:xfrm>
            <a:off x="4983480" y="1748790"/>
            <a:ext cx="3657600" cy="120015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164575" lIns="164575" spcFirstLastPara="1" rIns="164575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708090"/>
                </a:solidFill>
                <a:latin typeface="Arial"/>
                <a:ea typeface="Arial"/>
                <a:cs typeface="Arial"/>
                <a:sym typeface="Arial"/>
              </a:rPr>
              <a:t>Billing invoice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Onyx Stent  ×  1</a:t>
            </a:r>
            <a:endParaRPr/>
          </a:p>
        </p:txBody>
      </p:sp>
      <p:cxnSp>
        <p:nvCxnSpPr>
          <p:cNvPr id="167" name="Google Shape;167;p27"/>
          <p:cNvCxnSpPr/>
          <p:nvPr/>
        </p:nvCxnSpPr>
        <p:spPr>
          <a:xfrm>
            <a:off x="4224528" y="2345436"/>
            <a:ext cx="694944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8" name="Google Shape;168;p27"/>
          <p:cNvSpPr/>
          <p:nvPr/>
        </p:nvSpPr>
        <p:spPr>
          <a:xfrm>
            <a:off x="502920" y="3154680"/>
            <a:ext cx="8138160" cy="514350"/>
          </a:xfrm>
          <a:prstGeom prst="rect">
            <a:avLst/>
          </a:prstGeom>
          <a:noFill/>
          <a:ln cap="flat" cmpd="sng" w="127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Missing from the bill: 1 stent and 1 balloon</a:t>
            </a:r>
            <a:endParaRPr/>
          </a:p>
        </p:txBody>
      </p:sp>
      <p:sp>
        <p:nvSpPr>
          <p:cNvPr id="169" name="Google Shape;169;p27"/>
          <p:cNvSpPr txBox="1"/>
          <p:nvPr/>
        </p:nvSpPr>
        <p:spPr>
          <a:xfrm>
            <a:off x="502920" y="3840480"/>
            <a:ext cx="8138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5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Checking every bill against every note by hand takes hours, so it rarely happens. Simple keyword checks don't help much either</a:t>
            </a:r>
            <a:r>
              <a:rPr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</a:t>
            </a:r>
            <a:r>
              <a:rPr b="0" i="0" lang="en-GB" sz="15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“Ti screw” and “Titanium Interference Screw” look like two different items</a:t>
            </a:r>
            <a:r>
              <a:rPr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hence there is a need for an intelligent system that can map these two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466725" y="744373"/>
            <a:ext cx="822007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en-GB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want </a:t>
            </a:r>
            <a:r>
              <a:rPr lang="en-GB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Stitch </a:t>
            </a:r>
            <a:r>
              <a:rPr b="0" lang="en-GB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do:</a:t>
            </a:r>
            <a:endParaRPr/>
          </a:p>
        </p:txBody>
      </p:sp>
      <p:sp>
        <p:nvSpPr>
          <p:cNvPr id="176" name="Google Shape;176;p28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7" name="Google Shape;177;p28"/>
          <p:cNvSpPr txBox="1"/>
          <p:nvPr/>
        </p:nvSpPr>
        <p:spPr>
          <a:xfrm>
            <a:off x="80010" y="87682"/>
            <a:ext cx="9063990" cy="526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GB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548640" y="1351026"/>
            <a:ext cx="502920" cy="3771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9" name="Google Shape;179;p28"/>
          <p:cNvSpPr/>
          <p:nvPr/>
        </p:nvSpPr>
        <p:spPr>
          <a:xfrm>
            <a:off x="1280160" y="1268730"/>
            <a:ext cx="7315200" cy="65151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messy OT notes like a person would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3645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brand names, short forms and quantities written in free text.</a:t>
            </a:r>
            <a:endParaRPr/>
          </a:p>
        </p:txBody>
      </p:sp>
      <p:sp>
        <p:nvSpPr>
          <p:cNvPr id="180" name="Google Shape;180;p28"/>
          <p:cNvSpPr/>
          <p:nvPr/>
        </p:nvSpPr>
        <p:spPr>
          <a:xfrm>
            <a:off x="548640" y="2187702"/>
            <a:ext cx="502920" cy="3771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1" name="Google Shape;181;p28"/>
          <p:cNvSpPr/>
          <p:nvPr/>
        </p:nvSpPr>
        <p:spPr>
          <a:xfrm>
            <a:off x="1280160" y="2105406"/>
            <a:ext cx="73152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every note with its bill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3645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Flag items that were used but not billed, or billed in a smaller quantity.</a:t>
            </a:r>
            <a:endParaRPr/>
          </a:p>
        </p:txBody>
      </p:sp>
      <p:sp>
        <p:nvSpPr>
          <p:cNvPr id="182" name="Google Shape;182;p28"/>
          <p:cNvSpPr/>
          <p:nvPr/>
        </p:nvSpPr>
        <p:spPr>
          <a:xfrm>
            <a:off x="548640" y="3024378"/>
            <a:ext cx="502920" cy="3771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83" name="Google Shape;183;p28"/>
          <p:cNvSpPr/>
          <p:nvPr/>
        </p:nvSpPr>
        <p:spPr>
          <a:xfrm>
            <a:off x="1280160" y="2942082"/>
            <a:ext cx="7315200" cy="65151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before the patient is discharged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3645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admins a clear recovery table while the bill can still be corrected.</a:t>
            </a:r>
            <a:endParaRPr/>
          </a:p>
        </p:txBody>
      </p:sp>
      <p:sp>
        <p:nvSpPr>
          <p:cNvPr id="184" name="Google Shape;184;p28"/>
          <p:cNvSpPr/>
          <p:nvPr/>
        </p:nvSpPr>
        <p:spPr>
          <a:xfrm>
            <a:off x="548640" y="3861054"/>
            <a:ext cx="502920" cy="37719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85" name="Google Shape;185;p28"/>
          <p:cNvSpPr/>
          <p:nvPr/>
        </p:nvSpPr>
        <p:spPr>
          <a:xfrm>
            <a:off x="1280160" y="3778758"/>
            <a:ext cx="73152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7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patient records on the hospital's own machines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3645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files stay local. The AI model only sees what it needs to reason.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457201" y="744374"/>
            <a:ext cx="8258174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Stitch </a:t>
            </a:r>
            <a:r>
              <a:rPr b="0" lang="en-GB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an AI assistant that admins can simply message on Telegram. Type “Audit this” and it replies with a table of everything that was used in theatre but not charged.</a:t>
            </a:r>
            <a:endParaRPr/>
          </a:p>
        </p:txBody>
      </p:sp>
      <p:sp>
        <p:nvSpPr>
          <p:cNvPr id="192" name="Google Shape;192;p29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3" name="Google Shape;193;p29"/>
          <p:cNvSpPr txBox="1"/>
          <p:nvPr/>
        </p:nvSpPr>
        <p:spPr>
          <a:xfrm>
            <a:off x="80010" y="87682"/>
            <a:ext cx="9063990" cy="526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GB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Proposed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502920" y="1508760"/>
            <a:ext cx="1828800" cy="44577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195" name="Google Shape;195;p29"/>
          <p:cNvSpPr/>
          <p:nvPr/>
        </p:nvSpPr>
        <p:spPr>
          <a:xfrm>
            <a:off x="502920" y="1954530"/>
            <a:ext cx="1828800" cy="99441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Pulls in the OT notes and the bills for the day</a:t>
            </a:r>
            <a:endParaRPr/>
          </a:p>
        </p:txBody>
      </p:sp>
      <p:cxnSp>
        <p:nvCxnSpPr>
          <p:cNvPr id="196" name="Google Shape;196;p29"/>
          <p:cNvCxnSpPr/>
          <p:nvPr/>
        </p:nvCxnSpPr>
        <p:spPr>
          <a:xfrm>
            <a:off x="2359151" y="1735074"/>
            <a:ext cx="219457" cy="0"/>
          </a:xfrm>
          <a:prstGeom prst="straightConnector1">
            <a:avLst/>
          </a:prstGeom>
          <a:noFill/>
          <a:ln cap="flat" cmpd="sng" w="22225">
            <a:solidFill>
              <a:srgbClr val="70809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7" name="Google Shape;197;p29"/>
          <p:cNvSpPr/>
          <p:nvPr/>
        </p:nvSpPr>
        <p:spPr>
          <a:xfrm>
            <a:off x="2606039" y="1508760"/>
            <a:ext cx="1828800" cy="44577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  <a:endParaRPr/>
          </a:p>
        </p:txBody>
      </p:sp>
      <p:sp>
        <p:nvSpPr>
          <p:cNvPr id="198" name="Google Shape;198;p29"/>
          <p:cNvSpPr/>
          <p:nvPr/>
        </p:nvSpPr>
        <p:spPr>
          <a:xfrm>
            <a:off x="2606039" y="1954530"/>
            <a:ext cx="1828800" cy="99441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Lines up each item in the notes with the bill, even when names differ</a:t>
            </a:r>
            <a:endParaRPr/>
          </a:p>
        </p:txBody>
      </p:sp>
      <p:cxnSp>
        <p:nvCxnSpPr>
          <p:cNvPr id="199" name="Google Shape;199;p29"/>
          <p:cNvCxnSpPr/>
          <p:nvPr/>
        </p:nvCxnSpPr>
        <p:spPr>
          <a:xfrm>
            <a:off x="4462272" y="1735074"/>
            <a:ext cx="219455" cy="0"/>
          </a:xfrm>
          <a:prstGeom prst="straightConnector1">
            <a:avLst/>
          </a:prstGeom>
          <a:noFill/>
          <a:ln cap="flat" cmpd="sng" w="22225">
            <a:solidFill>
              <a:srgbClr val="70809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0" name="Google Shape;200;p29"/>
          <p:cNvSpPr/>
          <p:nvPr/>
        </p:nvSpPr>
        <p:spPr>
          <a:xfrm>
            <a:off x="4709159" y="1508760"/>
            <a:ext cx="1828800" cy="44577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Flag</a:t>
            </a:r>
            <a:endParaRPr/>
          </a:p>
        </p:txBody>
      </p:sp>
      <p:sp>
        <p:nvSpPr>
          <p:cNvPr id="201" name="Google Shape;201;p29"/>
          <p:cNvSpPr/>
          <p:nvPr/>
        </p:nvSpPr>
        <p:spPr>
          <a:xfrm>
            <a:off x="4709159" y="1954530"/>
            <a:ext cx="1828800" cy="99441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Marks items missing completely or billed short</a:t>
            </a:r>
            <a:endParaRPr/>
          </a:p>
        </p:txBody>
      </p:sp>
      <p:cxnSp>
        <p:nvCxnSpPr>
          <p:cNvPr id="202" name="Google Shape;202;p29"/>
          <p:cNvCxnSpPr/>
          <p:nvPr/>
        </p:nvCxnSpPr>
        <p:spPr>
          <a:xfrm>
            <a:off x="6565392" y="1735074"/>
            <a:ext cx="219455" cy="0"/>
          </a:xfrm>
          <a:prstGeom prst="straightConnector1">
            <a:avLst/>
          </a:prstGeom>
          <a:noFill/>
          <a:ln cap="flat" cmpd="sng" w="22225">
            <a:solidFill>
              <a:srgbClr val="70809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3" name="Google Shape;203;p29"/>
          <p:cNvSpPr/>
          <p:nvPr/>
        </p:nvSpPr>
        <p:spPr>
          <a:xfrm>
            <a:off x="6812279" y="1508760"/>
            <a:ext cx="1828800" cy="44577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6812279" y="1954530"/>
            <a:ext cx="1828800" cy="99441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Sends back a recovery table with patient, item and estimated value</a:t>
            </a:r>
            <a:endParaRPr/>
          </a:p>
        </p:txBody>
      </p:sp>
      <p:sp>
        <p:nvSpPr>
          <p:cNvPr id="205" name="Google Shape;205;p29"/>
          <p:cNvSpPr/>
          <p:nvPr/>
        </p:nvSpPr>
        <p:spPr>
          <a:xfrm>
            <a:off x="502920" y="3257550"/>
            <a:ext cx="8138160" cy="754380"/>
          </a:xfrm>
          <a:prstGeom prst="rect">
            <a:avLst/>
          </a:prstGeom>
          <a:noFill/>
          <a:ln cap="flat" cmpd="sng" w="12700">
            <a:solidFill>
              <a:srgbClr val="D3D3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4575" lIns="164575" spcFirstLastPara="1" rIns="164575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Built on the hospital's own 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36454F"/>
                </a:solidFill>
                <a:latin typeface="Arial"/>
                <a:ea typeface="Arial"/>
                <a:cs typeface="Arial"/>
                <a:sym typeface="Arial"/>
              </a:rPr>
              <a:t>It works on top of the existing hospital manageme</a:t>
            </a:r>
            <a:r>
              <a:rPr lang="en-GB" sz="1300">
                <a:solidFill>
                  <a:srgbClr val="36454F"/>
                </a:solidFill>
              </a:rPr>
              <a:t>tn </a:t>
            </a:r>
            <a:r>
              <a:rPr b="0" i="0" lang="en-GB" sz="1300" u="none" cap="none" strike="noStrike">
                <a:solidFill>
                  <a:srgbClr val="36454F"/>
                </a:solidFill>
                <a:latin typeface="Arial"/>
                <a:ea typeface="Arial"/>
                <a:cs typeface="Arial"/>
                <a:sym typeface="Arial"/>
              </a:rPr>
              <a:t>software (HMS). No new system for staff to learn, just a chat.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2" name="Google Shape;212;p30"/>
          <p:cNvSpPr txBox="1"/>
          <p:nvPr/>
        </p:nvSpPr>
        <p:spPr>
          <a:xfrm>
            <a:off x="80010" y="87682"/>
            <a:ext cx="9063990" cy="526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GB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Novelty and Show Stopper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3" name="Google Shape;213;p30"/>
          <p:cNvGraphicFramePr/>
          <p:nvPr/>
        </p:nvGraphicFramePr>
        <p:xfrm>
          <a:off x="502920" y="857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{08299750-554B-4E24-A22A-CA62B9B307B2}</a:tableStyleId>
              </a:tblPr>
              <a:tblGrid>
                <a:gridCol w="1737350"/>
                <a:gridCol w="2926075"/>
                <a:gridCol w="3474725"/>
              </a:tblGrid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109725" marL="109725" anchor="ctr"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Usual billing checks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</a:rPr>
                        <a:t>Missing Stitch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36454F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Matching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Exact text only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Understands short forms and brand names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F2F3F4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Hidden items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checks what's written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Knows a hip replacement normally needs bone cement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FFFFFF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When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Monthly audit, after discharge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Same day, before discharge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F2F3F4"/>
                    </a:solidFill>
                  </a:tcPr>
                </a:tc>
              </a:tr>
              <a:tr h="45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you ask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Reports on a desktop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1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Plain English, from your phone</a:t>
                      </a:r>
                      <a:endParaRPr sz="1100"/>
                    </a:p>
                  </a:txBody>
                  <a:tcPr marT="34300" marB="34300" marR="109725" marL="109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4" name="Google Shape;214;p30"/>
          <p:cNvSpPr/>
          <p:nvPr/>
        </p:nvSpPr>
        <p:spPr>
          <a:xfrm>
            <a:off x="502920" y="3360420"/>
            <a:ext cx="8138160" cy="106299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201150" lIns="201150" spcFirstLastPara="1" rIns="201150" wrap="square" tIns="201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Show stopper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An admin types “Show me leakage for today's ortho surgeries” on their phone and gets back a ranked list of missed items, while the bill can still be fixed.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0" name="Google Shape;220;p31"/>
          <p:cNvSpPr txBox="1"/>
          <p:nvPr/>
        </p:nvSpPr>
        <p:spPr>
          <a:xfrm>
            <a:off x="80010" y="87682"/>
            <a:ext cx="9063990" cy="526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GB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950" y="751475"/>
            <a:ext cx="6825726" cy="381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/>
          <p:nvPr>
            <p:ph idx="1" type="body"/>
          </p:nvPr>
        </p:nvSpPr>
        <p:spPr>
          <a:xfrm>
            <a:off x="447675" y="744373"/>
            <a:ext cx="4124325" cy="396335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 used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 "/>
            </a:pPr>
            <a:r>
              <a:rPr b="0"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OpenClaw: </a:t>
            </a:r>
            <a:r>
              <a:rPr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running agent locally and linking to telegram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 "/>
            </a:pPr>
            <a:r>
              <a:rPr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 3.5 Flash</a:t>
            </a:r>
            <a:r>
              <a:rPr b="0"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reads notes and finds gaps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 "/>
            </a:pPr>
            <a:r>
              <a:rPr b="0"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Telegram Bot: </a:t>
            </a:r>
            <a:r>
              <a:rPr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Chatbot to interact with user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 "/>
            </a:pPr>
            <a:r>
              <a:rPr b="0"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 files: sample OT notes and bills for 25 patients (Test data)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 "/>
            </a:pPr>
            <a:r>
              <a:rPr b="0"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Python: </a:t>
            </a:r>
            <a:r>
              <a:rPr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offline tests when Gemini API is not available</a:t>
            </a:r>
            <a:endParaRPr/>
          </a:p>
        </p:txBody>
      </p:sp>
      <p:sp>
        <p:nvSpPr>
          <p:cNvPr id="227" name="Google Shape;227;p32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8" name="Google Shape;228;p32"/>
          <p:cNvSpPr txBox="1"/>
          <p:nvPr/>
        </p:nvSpPr>
        <p:spPr>
          <a:xfrm>
            <a:off x="80010" y="87682"/>
            <a:ext cx="9063990" cy="526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GB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Tech Stack used and Budget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2"/>
          <p:cNvSpPr txBox="1"/>
          <p:nvPr/>
        </p:nvSpPr>
        <p:spPr>
          <a:xfrm>
            <a:off x="4819650" y="744373"/>
            <a:ext cx="3962401" cy="396335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b="1" i="0" lang="en-GB" sz="18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Estimated Budget</a:t>
            </a:r>
            <a:endParaRPr/>
          </a:p>
          <a:p>
            <a:pPr indent="-127000" lvl="0" marL="9144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b="1" i="0" lang="en-GB" sz="22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Prototype: </a:t>
            </a:r>
            <a:r>
              <a:rPr b="1" lang="en-GB" sz="2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</a:t>
            </a:r>
            <a:endParaRPr/>
          </a:p>
          <a:p>
            <a:pPr indent="-127000" lvl="0" marL="9144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b="0" i="0" lang="en-GB" sz="15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Everything runs on free tiers and a normal laptop.</a:t>
            </a:r>
            <a:endParaRPr/>
          </a:p>
          <a:p>
            <a:pPr indent="-127000" lvl="0" marL="9144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b="1" i="0" lang="en-GB" sz="15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hospital pilot we'd need:</a:t>
            </a:r>
            <a:endParaRPr/>
          </a:p>
          <a:p>
            <a:pPr indent="-127000" lvl="0" marL="9144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b="0" i="0" lang="en-GB" sz="15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small on-site server or VM</a:t>
            </a:r>
            <a:endParaRPr/>
          </a:p>
          <a:p>
            <a:pPr indent="-127000" lvl="0" marL="9144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b="0" i="0" lang="en-GB" sz="15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Paid Gemini API usage (charged per request)</a:t>
            </a:r>
            <a:endParaRPr/>
          </a:p>
          <a:p>
            <a:pPr indent="-127000" lvl="0" marL="9144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</a:pPr>
            <a:r>
              <a:rPr b="0" i="0" lang="en-GB" sz="15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link to the hospital's billing system (HMS)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idx="1" type="body"/>
          </p:nvPr>
        </p:nvSpPr>
        <p:spPr>
          <a:xfrm>
            <a:off x="447675" y="744373"/>
            <a:ext cx="82677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MVP </a:t>
            </a:r>
            <a:r>
              <a:rPr b="0"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Telegram chatbot backed by a local AI agent, plus a recovery table admins can act on.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b="0"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ran the audit on the 25 sample patients in the project:</a:t>
            </a:r>
            <a:endParaRPr/>
          </a:p>
        </p:txBody>
      </p:sp>
      <p:sp>
        <p:nvSpPr>
          <p:cNvPr id="235" name="Google Shape;235;p33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6" name="Google Shape;236;p33"/>
          <p:cNvSpPr txBox="1"/>
          <p:nvPr/>
        </p:nvSpPr>
        <p:spPr>
          <a:xfrm>
            <a:off x="80010" y="87682"/>
            <a:ext cx="9063990" cy="526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GB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Deliverable / Expected Outcome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83080"/>
            <a:ext cx="4572000" cy="198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80" y="1783080"/>
            <a:ext cx="3474720" cy="198882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/>
          <p:nvPr/>
        </p:nvSpPr>
        <p:spPr>
          <a:xfrm>
            <a:off x="502920" y="3943350"/>
            <a:ext cx="8138160" cy="5486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txBody>
          <a:bodyPr anchorCtr="0" anchor="ctr" bIns="164575" lIns="164575" spcFirstLastPara="1" rIns="164575" wrap="square" tIns="164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one of the 25 patients had at least one</a:t>
            </a:r>
            <a:r>
              <a:rPr lang="en-GB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discrepancy</a:t>
            </a:r>
            <a:r>
              <a:rPr b="0" i="0" lang="en-GB" sz="1400" u="none" cap="none" strike="noStrike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29 of the 39 were implants or devices, which are the expensive ones.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Google Shape;244;p34"/>
          <p:cNvGraphicFramePr/>
          <p:nvPr/>
        </p:nvGraphicFramePr>
        <p:xfrm>
          <a:off x="338511" y="1058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{E9A6267B-DE77-46F4-B8C2-B5189548668E}</a:tableStyleId>
              </a:tblPr>
              <a:tblGrid>
                <a:gridCol w="1345150"/>
                <a:gridCol w="1345150"/>
                <a:gridCol w="1345150"/>
                <a:gridCol w="1345150"/>
                <a:gridCol w="1345150"/>
                <a:gridCol w="13451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Role →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Team ↓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Research &amp; problem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AI agent &amp; prompt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Data &amp; testing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Telegram &amp; OpenClaw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/>
                        <a:t>Pitch &amp; docs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/>
                        <a:t>Nitish GB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/>
                        <a:t>✓</a:t>
                      </a:r>
                      <a:endParaRPr sz="18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✓</a:t>
                      </a:r>
                      <a:endParaRPr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✓</a:t>
                      </a:r>
                      <a:endParaRPr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✓</a:t>
                      </a:r>
                      <a:endParaRPr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/>
                        <a:t>Shreeya J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GB"/>
                        <a:t>✓</a:t>
                      </a:r>
                      <a:endParaRPr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✓</a:t>
                      </a:r>
                      <a:endParaRPr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✓</a:t>
                      </a:r>
                      <a:endParaRPr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/>
                        <a:t>✓</a:t>
                      </a:r>
                      <a:endParaRPr sz="14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5" name="Google Shape;245;p34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6" name="Google Shape;246;p34"/>
          <p:cNvSpPr txBox="1"/>
          <p:nvPr/>
        </p:nvSpPr>
        <p:spPr>
          <a:xfrm>
            <a:off x="80010" y="87682"/>
            <a:ext cx="9063990" cy="526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GB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Team Role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2" name="Google Shape;252;p35"/>
          <p:cNvSpPr txBox="1"/>
          <p:nvPr/>
        </p:nvSpPr>
        <p:spPr>
          <a:xfrm>
            <a:off x="80010" y="87682"/>
            <a:ext cx="9063990" cy="526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GB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Screenshot of the outcome-1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5"/>
          <p:cNvSpPr txBox="1"/>
          <p:nvPr/>
        </p:nvSpPr>
        <p:spPr>
          <a:xfrm>
            <a:off x="855950" y="1557925"/>
            <a:ext cx="75534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*Insert telegram runs here*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9" name="Google Shape;259;p36"/>
          <p:cNvSpPr txBox="1"/>
          <p:nvPr/>
        </p:nvSpPr>
        <p:spPr>
          <a:xfrm>
            <a:off x="80010" y="87682"/>
            <a:ext cx="9063990" cy="526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GB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 Screenshot of the outcome-2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6"/>
          <p:cNvSpPr txBox="1"/>
          <p:nvPr>
            <p:ph idx="1" type="body"/>
          </p:nvPr>
        </p:nvSpPr>
        <p:spPr>
          <a:xfrm>
            <a:off x="923925" y="2228849"/>
            <a:ext cx="822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*INSERT OFFLINE RUN HERE*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6" name="Google Shape;266;p37"/>
          <p:cNvSpPr txBox="1"/>
          <p:nvPr/>
        </p:nvSpPr>
        <p:spPr>
          <a:xfrm>
            <a:off x="80010" y="87682"/>
            <a:ext cx="9063990" cy="526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/>
              <a:buNone/>
            </a:pPr>
            <a:r>
              <a:rPr b="1" i="0" lang="en-GB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 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501963" y="1158699"/>
            <a:ext cx="8220000" cy="3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JTS Health Partners, “How Much Is Your Hospital Losing Through a Poor Charge Capture Process?” (cites HFMA: 1–5% of net revenue). jtshealthpartners.com/blog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Commure, “Charge Capture in Healthcare: What It Is, Why Revenue Leaks, and How AI Fixes It” (cites HFMA, Novant Health case). commure.com/blog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OpenClaw documentation. docs.openclaw.ai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Google, Gemini API documentation. ai.google.dev/gemini-api/docs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</a:t>
            </a:r>
            <a:r>
              <a:rPr b="0" lang="en-GB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Telegram, Bot API documentation. core.telegram.org/bots/api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>
            <p:ph idx="1" type="body"/>
          </p:nvPr>
        </p:nvSpPr>
        <p:spPr>
          <a:xfrm>
            <a:off x="800099" y="2131605"/>
            <a:ext cx="75438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0000" lnSpcReduction="20000"/>
          </a:bodyPr>
          <a:lstStyle/>
          <a:p>
            <a:pPr indent="-240030" lvl="0" marL="914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b="1" lang="en-GB" sz="5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38"/>
          <p:cNvSpPr txBox="1"/>
          <p:nvPr>
            <p:ph idx="12" type="sldNum"/>
          </p:nvPr>
        </p:nvSpPr>
        <p:spPr>
          <a:xfrm>
            <a:off x="7425344" y="4844840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